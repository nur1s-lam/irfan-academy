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Здравствуйте. Я представляю свою часть командного проекта Irfan Academy. Я занимался проверкой загрузки и просмотра видеоуроков, а также раздела «Намаз». В этот раздел входят определение местоположения, время намазов, направление Кыблы и напоминания. Сначала я покажу, как проводил проверку, затем продемонстрирую основные экраны и в конце расскажу о полученных результатах.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Irfan Academy — это образовательное приложение, в котором есть учебные материалы, видеоуроки, задания и раздел с религиозными функциями. Я проверял не всё приложение, а две конкретные части. Первая — загрузка и просмотр видео. Вторая — раздел «Намаз»: местоположение, расписание, Кыбла и напоминания. Во время работы я смотрел, правильно ли выполняются действия пользователя и что происходит, если пропадает интернет, запрещён доступ к местоположению или на устройстве нет компаса.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Моя цель была простой: проверить, что пользователь может выполнить нужное действие и понимает, что происходит на экране. Сначала я проходил обычный путь без ошибок. Затем специально создавал проблемы: отключал доступ к местоположению, проверял недоступную ссылку и учитывал отсутствие компаса. Отдельно проверял большие видео и переход к следующему дню после последнего намаза. Когда ошибка исправлялась, я снова повторял те же действия и проверял остальные основные функции.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Перед проверкой я посмотрел структуру проекта и нашёл файлы, которые отвечают за нужные функции. Для видео это загрузка файла, сохранение данных урока и плеер. Для раздела «Намаз» — расчёт времени, экран расписания, Кыбла и напоминания. Это помогло понять, откуда приложение получает каждое значение. Например, длительность видео должна определяться автоматически после загрузки, а не вводиться администратором вручную.</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Каждую функцию я проверял по одинаковому порядку. Сначала запускал приложение и открывал нужный экран. Затем подготавливал данные: выбирал видео, включал или отключал интернет, разрешал или запрещал местоположение. После этого выполнял действия обычного пользователя. Я заранее записывал, какой результат должен быть, и сравнивал его с тем, что показало приложение. Если находил ошибку, записывал шаги. После исправления повторял их ещё раз, а затем быстро проверял соседние функции.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Проверка видео начиналась в админ-панели. Я выбирал файл с компьютера и смотрел, началась ли загрузка. Во время загрузки проверял процент и сообщение при ошибке. После завершения Cloudinary, где хранится видео, возвращал ссылку и данные о файле. В базе Firestore сохранялась только небольшая запись об уроке. Затем я входил как обычный пользователь, открывал список уроков и запускал загруженное видео. Проверка считалась успешной, если открывался именно выбранный файл.</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Сначала я вошёл под учётной записью администратора и открыл раздел видеоуроков. Нажал кнопку выбора видео и проверил, что появилось обычное окно Windows. Затем выбрал MP4-файл. Загрузка началась сразу после выбора. Я также нажимал «Отмена»: в этом случае новый урок не появлялся. Ссылку и длительность вводить вручную не нужно. Администратор заполняет только номер, название и описание урока.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После выбора файла я следил за окном загрузки. Процент должен постепенно меняться от нуля до ста, чтобы пользователь видел, что программа работает. Затем я временно отключал интернет и проверял сообщение об ошибке. Программа может попробовать отправить файл ещё раз, но делает это не больше четырёх раз. Если загрузка не удалась, окно не должно висеть бесконечно. После восстановления соединения загрузку можно запустить повторно.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Учебные видео могут быть длинными, поэтому я проверял файлы разного размера. Если файл меньше 95 мегабайт, он отправляется целиком. Если больше, программа делит его на части примерно по 8 мегабайт и отправляет их по очереди. Я проверял, что для каждого размера выбирается нужный способ, процент продолжает обновляться, а после последней части загрузка завершается. Такой подход не занимает всю память устройства одним большим файлом.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После загрузки я открыл базу Firestore и нашёл созданный урок. Затем сравнил сохранённые значения с исходным видео. В базе есть название урока, имя файла, размер, формат, длительность, ссылка и номер файла в хранилище. Само видео там не хранится — оно находится в Cloudinary. Благодаря этому база хранит только небольшую запись, а приложение получает видео по ссылке. Все значения на проверочном примере совпали с выбранным файлом.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Затем я вошёл в приложение как ученик, открыл список видеоуроков и выбрал загруженный урок. Проверил запуск и паузу, перемотал видео вперёд, включил повтор и изменил скорость. Также открыл неправильную ссылку, чтобы увидеть понятное сообщение об ошибке. После закрытия окна видео должно остановиться и не продолжать играть в фоне. Все основные кнопки сработали, а загруженный файл открылся полностью.</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Здесь собраны проверки при ошибках. Сначала я отменил выбор файла и убедился, что пустой урок не появился. Затем временно отключил интернет: программа показала сообщение и не пыталась загружать бесконечно. После этого открыл урок с неправильной ссылкой — плеер показал ошибку и предложил повторить. В последней проверке я закрыл урок во время просмотра и убедился, что видео остановилось. После исправлений все четыре проверки были повторены.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Раздел «Намаз» я проверял по порядку. Сначала смотрел, какое местоположение выбрало приложение. Затем проверял рассчитанное время намазов и направление Кыблы. После этого смотрел, правильно ли всё отображается на экране: список намазов, ближайший намаз, обратный отсчёт и компас. На телефоне дополнительно проверял напоминание. После отдельных проверок я ещё раз открыл весь раздел целиком и убедился, что данные согласованы между собой.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Для проверки местоположения я сначала разрешил доступ и убедился, что приложение использует текущие координаты. Затем отключил службу и отдельно запретил разрешение. Также проверил случай, когда устройство не отвечает в течение пяти секунд. Во всех этих ситуациях экран не должен зависать. Если координаты получить не удалось, приложение использует данные Бишкека: 42.8746 и 74.5698. Название выбранного места показывается на экране, поэтому пользователь понимает, для какого города рассчитано время.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На экране расписания я проверял время пяти обязательных намазов, выделение ближайшего намаза и обратный отсчёт. Для расчёта используется метод Всемирной мусульманской лиги, а Аср определяется по ханафитскому методу. Самая важная отдельная проверка проводилась после Иша. В текущем дне больше нет будущих намазов, поэтому приложение должно показать Фаджр следующего дня. Название, дата и оставшееся время отобразились правильно.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Для текущего места приложение рассчитывает угол направления на Каабу. Затем оно получает направление телефона от компаса. Я медленно поворачивал устройство и смотрел, правильно ли двигается стрелка. Отдельно проверил полный поворот, когда значение переходит от 359 градусов к нулю. Если компаса нет или ему нужна настройка, экран не должен закрываться с ошибкой. В этом случае пользователь видит понятное сообщение.</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Напоминания я проверял отдельно на телефоне и в браузере. На Android сначала разрешил уведомления, затем создал напоминание и сверил название намаза и время. Если телефон не разрешает точное срабатывание, используется обычный режим. В браузере такая функция не поддерживается. Поэтому программа не пытается её запускать и спокойно продолжает работу. На скриншоте видно, что раздел открывается без ошибки.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В конце я запустил три команды. Первая команда проверила Flutter-код и не нашла ошибок. Вторая запустила две автоматические проверки: вход администратора и стартовый экран. Обе завершились успешно. Третья команда проверила серверный файл Firebase Functions и также не нашла ошибок. После команд я ещё раз вручную открыл загрузку видео, плеер, расписание намазов, Кыблу и напоминания, чтобы убедиться, что основные функции продолжают работать.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400">
                <a:latin typeface="Segoe UI"/>
              </a:defRPr>
            </a:pPr>
            <a:r>
              <a:t>В результате я проверил весь путь видеоурока: выбор файла, загрузку, сохранение данных и просмотр. Также проверил местоположение, время намазов, следующий намаз, Кыблу и напоминания. Ошибки сети, отказ разрешений и отсутствие компаса не должны закрывать приложение. Команды проверки кода и две автоматические проверки завершились успешно. На демонстрации я могу последовательно показать загрузку видео, работу плеера, расписание намазов, Кыблу и результаты команд. Спасибо за внимание.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8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94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13800" y="-1549400"/>
            <a:ext cx="4953000" cy="4953000"/>
          </a:xfrm>
          <a:prstGeom prst="ellipse">
            <a:avLst/>
          </a:prstGeom>
          <a:solidFill>
            <a:srgbClr val="274A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88500" y="558800"/>
            <a:ext cx="2514600" cy="2514600"/>
          </a:xfrm>
          <a:prstGeom prst="ellipse">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rfan_logo.png"/>
          <p:cNvPicPr>
            <a:picLocks noChangeAspect="1"/>
          </p:cNvPicPr>
          <p:nvPr/>
        </p:nvPicPr>
        <p:blipFill>
          <a:blip r:embed="rId2"/>
          <a:stretch>
            <a:fillRect/>
          </a:stretch>
        </p:blipFill>
        <p:spPr>
          <a:xfrm>
            <a:off x="9931400" y="889000"/>
            <a:ext cx="1841500" cy="1841500"/>
          </a:xfrm>
          <a:prstGeom prst="rect">
            <a:avLst/>
          </a:prstGeom>
        </p:spPr>
      </p:pic>
      <p:sp>
        <p:nvSpPr>
          <p:cNvPr id="7" name="Rounded Rectangle 6"/>
          <p:cNvSpPr/>
          <p:nvPr/>
        </p:nvSpPr>
        <p:spPr>
          <a:xfrm>
            <a:off x="787400" y="685800"/>
            <a:ext cx="2489200" cy="304800"/>
          </a:xfrm>
          <a:prstGeom prst="roundRect">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9800" y="749300"/>
            <a:ext cx="2184400" cy="177800"/>
          </a:xfrm>
          <a:prstGeom prst="rect">
            <a:avLst/>
          </a:prstGeom>
          <a:noFill/>
        </p:spPr>
        <p:txBody>
          <a:bodyPr wrap="square" lIns="0" rIns="0" tIns="0" bIns="0" anchor="t">
            <a:spAutoFit/>
          </a:bodyPr>
          <a:lstStyle/>
          <a:p>
            <a:pPr algn="l">
              <a:spcAft>
                <a:spcPts val="0"/>
              </a:spcAft>
              <a:defRPr sz="1000" b="1">
                <a:solidFill>
                  <a:srgbClr val="FFFFFF"/>
                </a:solidFill>
                <a:latin typeface="Segoe UI"/>
              </a:defRPr>
            </a:pPr>
            <a:r>
              <a:t>ПРОИЗВОДСТВЕННАЯ ПРАКТИКА</a:t>
            </a:r>
          </a:p>
        </p:txBody>
      </p:sp>
      <p:sp>
        <p:nvSpPr>
          <p:cNvPr id="9" name="TextBox 8"/>
          <p:cNvSpPr txBox="1"/>
          <p:nvPr/>
        </p:nvSpPr>
        <p:spPr>
          <a:xfrm>
            <a:off x="787400" y="1511300"/>
            <a:ext cx="7810500" cy="609600"/>
          </a:xfrm>
          <a:prstGeom prst="rect">
            <a:avLst/>
          </a:prstGeom>
          <a:noFill/>
        </p:spPr>
        <p:txBody>
          <a:bodyPr wrap="square" lIns="0" rIns="0" tIns="0" bIns="0" anchor="t">
            <a:spAutoFit/>
          </a:bodyPr>
          <a:lstStyle/>
          <a:p>
            <a:pPr algn="l">
              <a:spcAft>
                <a:spcPts val="0"/>
              </a:spcAft>
              <a:defRPr sz="3000" b="1">
                <a:solidFill>
                  <a:srgbClr val="D3A13B"/>
                </a:solidFill>
                <a:latin typeface="Segoe UI"/>
              </a:defRPr>
            </a:pPr>
            <a:r>
              <a:t>ТЕСТИРОВАНИЕ</a:t>
            </a:r>
          </a:p>
        </p:txBody>
      </p:sp>
      <p:sp>
        <p:nvSpPr>
          <p:cNvPr id="10" name="TextBox 9"/>
          <p:cNvSpPr txBox="1"/>
          <p:nvPr/>
        </p:nvSpPr>
        <p:spPr>
          <a:xfrm>
            <a:off x="762000" y="2108200"/>
            <a:ext cx="7937500" cy="1905000"/>
          </a:xfrm>
          <a:prstGeom prst="rect">
            <a:avLst/>
          </a:prstGeom>
          <a:noFill/>
        </p:spPr>
        <p:txBody>
          <a:bodyPr wrap="square" lIns="0" rIns="0" tIns="0" bIns="0" anchor="t">
            <a:spAutoFit/>
          </a:bodyPr>
          <a:lstStyle/>
          <a:p>
            <a:pPr algn="l">
              <a:spcAft>
                <a:spcPts val="100"/>
              </a:spcAft>
              <a:defRPr sz="3700" b="1">
                <a:solidFill>
                  <a:srgbClr val="FFFFFF"/>
                </a:solidFill>
                <a:latin typeface="Georgia"/>
              </a:defRPr>
            </a:pPr>
            <a:r>
              <a:t>видеоуроков и</a:t>
            </a:r>
          </a:p>
          <a:p>
            <a:pPr algn="l">
              <a:spcAft>
                <a:spcPts val="100"/>
              </a:spcAft>
              <a:defRPr sz="3700" b="1">
                <a:solidFill>
                  <a:srgbClr val="FFFFFF"/>
                </a:solidFill>
                <a:latin typeface="Georgia"/>
              </a:defRPr>
            </a:pPr>
            <a:r>
              <a:t>раздела «Намаз»</a:t>
            </a:r>
          </a:p>
        </p:txBody>
      </p:sp>
      <p:cxnSp>
        <p:nvCxnSpPr>
          <p:cNvPr id="11" name="Connector 10"/>
          <p:cNvCxnSpPr/>
          <p:nvPr/>
        </p:nvCxnSpPr>
        <p:spPr>
          <a:xfrm>
            <a:off x="800100" y="4267200"/>
            <a:ext cx="6121400" cy="0"/>
          </a:xfrm>
          <a:prstGeom prst="line">
            <a:avLst/>
          </a:prstGeom>
          <a:ln w="25400">
            <a:solidFill>
              <a:srgbClr val="D3A13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7400" y="4559300"/>
            <a:ext cx="7493000" cy="431800"/>
          </a:xfrm>
          <a:prstGeom prst="rect">
            <a:avLst/>
          </a:prstGeom>
          <a:noFill/>
        </p:spPr>
        <p:txBody>
          <a:bodyPr wrap="square" lIns="0" rIns="0" tIns="0" bIns="0" anchor="t">
            <a:spAutoFit/>
          </a:bodyPr>
          <a:lstStyle/>
          <a:p>
            <a:pPr algn="l">
              <a:spcAft>
                <a:spcPts val="200"/>
              </a:spcAft>
              <a:defRPr sz="1800" b="0">
                <a:solidFill>
                  <a:srgbClr val="F1E9D8"/>
                </a:solidFill>
                <a:latin typeface="Segoe UI"/>
              </a:defRPr>
            </a:pPr>
            <a:r>
              <a:t>Индивидуальная работа в проекте Irfan Academy</a:t>
            </a:r>
          </a:p>
        </p:txBody>
      </p:sp>
      <p:sp>
        <p:nvSpPr>
          <p:cNvPr id="13" name="TextBox 12"/>
          <p:cNvSpPr txBox="1"/>
          <p:nvPr/>
        </p:nvSpPr>
        <p:spPr>
          <a:xfrm>
            <a:off x="787400" y="5334000"/>
            <a:ext cx="5334000" cy="787400"/>
          </a:xfrm>
          <a:prstGeom prst="rect">
            <a:avLst/>
          </a:prstGeom>
          <a:noFill/>
        </p:spPr>
        <p:txBody>
          <a:bodyPr wrap="square" lIns="0" rIns="0" tIns="0" bIns="0" anchor="t">
            <a:spAutoFit/>
          </a:bodyPr>
          <a:lstStyle/>
          <a:p>
            <a:pPr algn="l">
              <a:spcAft>
                <a:spcPts val="200"/>
              </a:spcAft>
              <a:defRPr sz="1600" b="0">
                <a:solidFill>
                  <a:srgbClr val="FFFFFF"/>
                </a:solidFill>
                <a:latin typeface="Segoe UI"/>
              </a:defRPr>
            </a:pPr>
            <a:r>
              <a:t>Студент группы ПИ ан-2-23</a:t>
            </a:r>
          </a:p>
          <a:p>
            <a:pPr algn="l">
              <a:spcAft>
                <a:spcPts val="200"/>
              </a:spcAft>
              <a:defRPr sz="1600" b="0">
                <a:solidFill>
                  <a:srgbClr val="FFFFFF"/>
                </a:solidFill>
                <a:latin typeface="Segoe UI"/>
              </a:defRPr>
            </a:pPr>
            <a:r>
              <a:t>[ФИО третьего участника]</a:t>
            </a:r>
          </a:p>
        </p:txBody>
      </p:sp>
      <p:sp>
        <p:nvSpPr>
          <p:cNvPr id="14" name="TextBox 13"/>
          <p:cNvSpPr txBox="1"/>
          <p:nvPr/>
        </p:nvSpPr>
        <p:spPr>
          <a:xfrm>
            <a:off x="9398000" y="5765800"/>
            <a:ext cx="2260600" cy="304800"/>
          </a:xfrm>
          <a:prstGeom prst="rect">
            <a:avLst/>
          </a:prstGeom>
          <a:noFill/>
        </p:spPr>
        <p:txBody>
          <a:bodyPr wrap="square" lIns="0" rIns="0" tIns="0" bIns="0" anchor="t">
            <a:spAutoFit/>
          </a:bodyPr>
          <a:lstStyle/>
          <a:p>
            <a:pPr algn="r">
              <a:spcAft>
                <a:spcPts val="200"/>
              </a:spcAft>
              <a:defRPr sz="1400" b="1">
                <a:solidFill>
                  <a:srgbClr val="F1E9D8"/>
                </a:solidFill>
                <a:latin typeface="Segoe UI"/>
              </a:defRPr>
            </a:pPr>
            <a:r>
              <a:t>Бишкек  ·  2026</a:t>
            </a:r>
          </a:p>
        </p:txBody>
      </p:sp>
      <p:sp>
        <p:nvSpPr>
          <p:cNvPr id="15" name="TextBox 14"/>
          <p:cNvSpPr txBox="1"/>
          <p:nvPr/>
        </p:nvSpPr>
        <p:spPr>
          <a:xfrm>
            <a:off x="11099800" y="6426200"/>
            <a:ext cx="558800" cy="228600"/>
          </a:xfrm>
          <a:prstGeom prst="rect">
            <a:avLst/>
          </a:prstGeom>
          <a:noFill/>
        </p:spPr>
        <p:txBody>
          <a:bodyPr wrap="square" lIns="0" rIns="0" tIns="0" bIns="0" anchor="t">
            <a:spAutoFit/>
          </a:bodyPr>
          <a:lstStyle/>
          <a:p>
            <a:pPr algn="r">
              <a:spcAft>
                <a:spcPts val="200"/>
              </a:spcAft>
              <a:defRPr sz="1100" b="1">
                <a:solidFill>
                  <a:srgbClr val="D3A13B"/>
                </a:solidFill>
                <a:latin typeface="Georgia"/>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МОЯ РАБОТА В ПРОЕКТЕ</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02</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Что я проверял в приложении</a:t>
            </a:r>
          </a:p>
        </p:txBody>
      </p:sp>
      <p:sp>
        <p:nvSpPr>
          <p:cNvPr id="9" name="TextBox 8"/>
          <p:cNvSpPr txBox="1"/>
          <p:nvPr/>
        </p:nvSpPr>
        <p:spPr>
          <a:xfrm>
            <a:off x="533400" y="1816100"/>
            <a:ext cx="5588000" cy="533400"/>
          </a:xfrm>
          <a:prstGeom prst="rect">
            <a:avLst/>
          </a:prstGeom>
          <a:noFill/>
        </p:spPr>
        <p:txBody>
          <a:bodyPr wrap="square" lIns="0" rIns="0" tIns="0" bIns="0" anchor="t">
            <a:spAutoFit/>
          </a:bodyPr>
          <a:lstStyle/>
          <a:p>
            <a:pPr algn="l">
              <a:spcAft>
                <a:spcPts val="200"/>
              </a:spcAft>
              <a:defRPr sz="2600" b="1">
                <a:solidFill>
                  <a:srgbClr val="2F7375"/>
                </a:solidFill>
                <a:latin typeface="Georgia"/>
              </a:defRPr>
            </a:pPr>
            <a:r>
              <a:t>Irfan Academy</a:t>
            </a:r>
          </a:p>
        </p:txBody>
      </p:sp>
      <p:sp>
        <p:nvSpPr>
          <p:cNvPr id="10" name="TextBox 9"/>
          <p:cNvSpPr txBox="1"/>
          <p:nvPr/>
        </p:nvSpPr>
        <p:spPr>
          <a:xfrm>
            <a:off x="533400" y="2476500"/>
            <a:ext cx="5334000" cy="1473200"/>
          </a:xfrm>
          <a:prstGeom prst="rect">
            <a:avLst/>
          </a:prstGeom>
          <a:noFill/>
        </p:spPr>
        <p:txBody>
          <a:bodyPr wrap="square" lIns="0" rIns="0" tIns="0" bIns="0" anchor="t">
            <a:spAutoFit/>
          </a:bodyPr>
          <a:lstStyle/>
          <a:p>
            <a:pPr algn="l">
              <a:spcAft>
                <a:spcPts val="200"/>
              </a:spcAft>
              <a:defRPr sz="1800" b="0">
                <a:solidFill>
                  <a:srgbClr val="18313F"/>
                </a:solidFill>
                <a:latin typeface="Segoe UI"/>
              </a:defRPr>
            </a:pPr>
            <a:r>
              <a:t>Образовательное приложение на Flutter, в котором объединены учебные материалы, видеоуроки, задания, расписание занятий и религиозные функции.</a:t>
            </a:r>
          </a:p>
        </p:txBody>
      </p:sp>
      <p:sp>
        <p:nvSpPr>
          <p:cNvPr id="11" name="Rectangle 10"/>
          <p:cNvSpPr/>
          <p:nvPr/>
        </p:nvSpPr>
        <p:spPr>
          <a:xfrm>
            <a:off x="6578600" y="1600200"/>
            <a:ext cx="4953000" cy="3708400"/>
          </a:xfrm>
          <a:prstGeom prst="rect">
            <a:avLst/>
          </a:prstGeom>
          <a:solidFill>
            <a:srgbClr val="F1E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59600" y="1943100"/>
            <a:ext cx="4127500" cy="254000"/>
          </a:xfrm>
          <a:prstGeom prst="rect">
            <a:avLst/>
          </a:prstGeom>
          <a:noFill/>
        </p:spPr>
        <p:txBody>
          <a:bodyPr wrap="square" lIns="0" rIns="0" tIns="0" bIns="0" anchor="t">
            <a:spAutoFit/>
          </a:bodyPr>
          <a:lstStyle/>
          <a:p>
            <a:pPr algn="l">
              <a:spcAft>
                <a:spcPts val="200"/>
              </a:spcAft>
              <a:defRPr sz="1100" b="1">
                <a:solidFill>
                  <a:srgbClr val="B95F4B"/>
                </a:solidFill>
                <a:latin typeface="Segoe UI"/>
              </a:defRPr>
            </a:pPr>
            <a:r>
              <a:t>МОЯ ЧАСТЬ РАБОТЫ</a:t>
            </a:r>
          </a:p>
        </p:txBody>
      </p:sp>
      <p:sp>
        <p:nvSpPr>
          <p:cNvPr id="13" name="Oval 12"/>
          <p:cNvSpPr/>
          <p:nvPr/>
        </p:nvSpPr>
        <p:spPr>
          <a:xfrm>
            <a:off x="6959600" y="2476500"/>
            <a:ext cx="482600" cy="4826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9600" y="2578100"/>
            <a:ext cx="4826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1</a:t>
            </a:r>
          </a:p>
        </p:txBody>
      </p:sp>
      <p:sp>
        <p:nvSpPr>
          <p:cNvPr id="15" name="TextBox 14"/>
          <p:cNvSpPr txBox="1"/>
          <p:nvPr/>
        </p:nvSpPr>
        <p:spPr>
          <a:xfrm>
            <a:off x="7658100" y="2514600"/>
            <a:ext cx="2794000" cy="317500"/>
          </a:xfrm>
          <a:prstGeom prst="rect">
            <a:avLst/>
          </a:prstGeom>
          <a:noFill/>
        </p:spPr>
        <p:txBody>
          <a:bodyPr wrap="square" lIns="0" rIns="0" tIns="0" bIns="0" anchor="t">
            <a:spAutoFit/>
          </a:bodyPr>
          <a:lstStyle/>
          <a:p>
            <a:pPr algn="l">
              <a:spcAft>
                <a:spcPts val="200"/>
              </a:spcAft>
              <a:defRPr sz="1800" b="1">
                <a:solidFill>
                  <a:srgbClr val="18313F"/>
                </a:solidFill>
                <a:latin typeface="Georgia"/>
              </a:defRPr>
            </a:pPr>
            <a:r>
              <a:t>Видеоуроки</a:t>
            </a:r>
          </a:p>
        </p:txBody>
      </p:sp>
      <p:sp>
        <p:nvSpPr>
          <p:cNvPr id="16" name="TextBox 15"/>
          <p:cNvSpPr txBox="1"/>
          <p:nvPr/>
        </p:nvSpPr>
        <p:spPr>
          <a:xfrm>
            <a:off x="7658100" y="2908300"/>
            <a:ext cx="3238500" cy="457200"/>
          </a:xfrm>
          <a:prstGeom prst="rect">
            <a:avLst/>
          </a:prstGeom>
          <a:noFill/>
        </p:spPr>
        <p:txBody>
          <a:bodyPr wrap="square" lIns="0" rIns="0" tIns="0" bIns="0" anchor="t">
            <a:spAutoFit/>
          </a:bodyPr>
          <a:lstStyle/>
          <a:p>
            <a:pPr algn="l">
              <a:spcAft>
                <a:spcPts val="200"/>
              </a:spcAft>
              <a:defRPr sz="1500" b="0">
                <a:solidFill>
                  <a:srgbClr val="60727B"/>
                </a:solidFill>
                <a:latin typeface="Segoe UI"/>
              </a:defRPr>
            </a:pPr>
            <a:r>
              <a:t>Выбор, загрузка и просмотр видео</a:t>
            </a:r>
          </a:p>
        </p:txBody>
      </p:sp>
      <p:sp>
        <p:nvSpPr>
          <p:cNvPr id="17" name="Oval 16"/>
          <p:cNvSpPr/>
          <p:nvPr/>
        </p:nvSpPr>
        <p:spPr>
          <a:xfrm>
            <a:off x="6959600" y="3619500"/>
            <a:ext cx="482600" cy="4826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59600" y="3721100"/>
            <a:ext cx="4826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2</a:t>
            </a:r>
          </a:p>
        </p:txBody>
      </p:sp>
      <p:sp>
        <p:nvSpPr>
          <p:cNvPr id="19" name="TextBox 18"/>
          <p:cNvSpPr txBox="1"/>
          <p:nvPr/>
        </p:nvSpPr>
        <p:spPr>
          <a:xfrm>
            <a:off x="7658100" y="3657600"/>
            <a:ext cx="3302000" cy="317500"/>
          </a:xfrm>
          <a:prstGeom prst="rect">
            <a:avLst/>
          </a:prstGeom>
          <a:noFill/>
        </p:spPr>
        <p:txBody>
          <a:bodyPr wrap="square" lIns="0" rIns="0" tIns="0" bIns="0" anchor="t">
            <a:spAutoFit/>
          </a:bodyPr>
          <a:lstStyle/>
          <a:p>
            <a:pPr algn="l">
              <a:spcAft>
                <a:spcPts val="200"/>
              </a:spcAft>
              <a:defRPr sz="1800" b="1">
                <a:solidFill>
                  <a:srgbClr val="18313F"/>
                </a:solidFill>
                <a:latin typeface="Georgia"/>
              </a:defRPr>
            </a:pPr>
            <a:r>
              <a:t>Религиозные функции</a:t>
            </a:r>
          </a:p>
        </p:txBody>
      </p:sp>
      <p:sp>
        <p:nvSpPr>
          <p:cNvPr id="20" name="TextBox 19"/>
          <p:cNvSpPr txBox="1"/>
          <p:nvPr/>
        </p:nvSpPr>
        <p:spPr>
          <a:xfrm>
            <a:off x="7658100" y="4051300"/>
            <a:ext cx="3429000" cy="533400"/>
          </a:xfrm>
          <a:prstGeom prst="rect">
            <a:avLst/>
          </a:prstGeom>
          <a:noFill/>
        </p:spPr>
        <p:txBody>
          <a:bodyPr wrap="square" lIns="0" rIns="0" tIns="0" bIns="0" anchor="t">
            <a:spAutoFit/>
          </a:bodyPr>
          <a:lstStyle/>
          <a:p>
            <a:pPr algn="l">
              <a:spcAft>
                <a:spcPts val="200"/>
              </a:spcAft>
              <a:defRPr sz="1500" b="0">
                <a:solidFill>
                  <a:srgbClr val="60727B"/>
                </a:solidFill>
                <a:latin typeface="Segoe UI"/>
              </a:defRPr>
            </a:pPr>
            <a:r>
              <a:t>Местоположение, намазы, Кыбла и уведомления</a:t>
            </a:r>
          </a:p>
        </p:txBody>
      </p:sp>
      <p:sp>
        <p:nvSpPr>
          <p:cNvPr id="21" name="TextBox 20"/>
          <p:cNvSpPr txBox="1"/>
          <p:nvPr/>
        </p:nvSpPr>
        <p:spPr>
          <a:xfrm>
            <a:off x="533400" y="4495800"/>
            <a:ext cx="5334000" cy="1066800"/>
          </a:xfrm>
          <a:prstGeom prst="rect">
            <a:avLst/>
          </a:prstGeom>
          <a:noFill/>
        </p:spPr>
        <p:txBody>
          <a:bodyPr wrap="square" lIns="0" rIns="0" tIns="0" bIns="0" anchor="t">
            <a:spAutoFit/>
          </a:bodyPr>
          <a:lstStyle/>
          <a:p>
            <a:pPr algn="l">
              <a:spcAft>
                <a:spcPts val="200"/>
              </a:spcAft>
              <a:defRPr sz="1900" b="1">
                <a:solidFill>
                  <a:srgbClr val="18313F"/>
                </a:solidFill>
                <a:latin typeface="Georgia"/>
              </a:defRPr>
            </a:pPr>
            <a:r>
              <a:t>Главная задача — проверить обычную работу и поведение приложения при ошибках.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ЗАДАЧА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03</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Rounded Rectangle 7"/>
          <p:cNvSpPr/>
          <p:nvPr/>
        </p:nvSpPr>
        <p:spPr>
          <a:xfrm>
            <a:off x="533400" y="838200"/>
            <a:ext cx="1168400" cy="304800"/>
          </a:xfrm>
          <a:prstGeom prst="roundRect">
            <a:avLst/>
          </a:prstGeom>
          <a:solidFill>
            <a:srgbClr val="B95F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901700"/>
            <a:ext cx="863600" cy="177800"/>
          </a:xfrm>
          <a:prstGeom prst="rect">
            <a:avLst/>
          </a:prstGeom>
          <a:noFill/>
        </p:spPr>
        <p:txBody>
          <a:bodyPr wrap="square" lIns="0" rIns="0" tIns="0" bIns="0" anchor="t">
            <a:spAutoFit/>
          </a:bodyPr>
          <a:lstStyle/>
          <a:p>
            <a:pPr algn="l">
              <a:spcAft>
                <a:spcPts val="0"/>
              </a:spcAft>
              <a:defRPr sz="1000" b="1">
                <a:solidFill>
                  <a:srgbClr val="FFFFFF"/>
                </a:solidFill>
                <a:latin typeface="Segoe UI"/>
              </a:defRPr>
            </a:pPr>
            <a:r>
              <a:t>ЦЕЛЬ</a:t>
            </a:r>
          </a:p>
        </p:txBody>
      </p:sp>
      <p:sp>
        <p:nvSpPr>
          <p:cNvPr id="10" name="TextBox 9"/>
          <p:cNvSpPr txBox="1"/>
          <p:nvPr/>
        </p:nvSpPr>
        <p:spPr>
          <a:xfrm>
            <a:off x="533400" y="1422400"/>
            <a:ext cx="8382000" cy="1244600"/>
          </a:xfrm>
          <a:prstGeom prst="rect">
            <a:avLst/>
          </a:prstGeom>
          <a:noFill/>
        </p:spPr>
        <p:txBody>
          <a:bodyPr wrap="square" lIns="0" rIns="0" tIns="0" bIns="0" anchor="t">
            <a:spAutoFit/>
          </a:bodyPr>
          <a:lstStyle/>
          <a:p>
            <a:pPr algn="l">
              <a:spcAft>
                <a:spcPts val="200"/>
              </a:spcAft>
              <a:defRPr sz="2900" b="1">
                <a:solidFill>
                  <a:srgbClr val="18313F"/>
                </a:solidFill>
                <a:latin typeface="Georgia"/>
              </a:defRPr>
            </a:pPr>
            <a:r>
              <a:t>Проверить обычные действия</a:t>
            </a:r>
          </a:p>
          <a:p>
            <a:pPr algn="l">
              <a:spcAft>
                <a:spcPts val="200"/>
              </a:spcAft>
              <a:defRPr sz="2900" b="1">
                <a:solidFill>
                  <a:srgbClr val="18313F"/>
                </a:solidFill>
                <a:latin typeface="Georgia"/>
              </a:defRPr>
            </a:pPr>
            <a:r>
              <a:t>и работу приложения при ошибках</a:t>
            </a:r>
          </a:p>
        </p:txBody>
      </p:sp>
      <p:cxnSp>
        <p:nvCxnSpPr>
          <p:cNvPr id="11" name="Connector 10"/>
          <p:cNvCxnSpPr/>
          <p:nvPr/>
        </p:nvCxnSpPr>
        <p:spPr>
          <a:xfrm>
            <a:off x="533400" y="2921000"/>
            <a:ext cx="11125200" cy="0"/>
          </a:xfrm>
          <a:prstGeom prst="line">
            <a:avLst/>
          </a:prstGeom>
          <a:ln w="12700">
            <a:solidFill>
              <a:srgbClr val="D7D0C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3400" y="3314700"/>
            <a:ext cx="571500" cy="393700"/>
          </a:xfrm>
          <a:prstGeom prst="rect">
            <a:avLst/>
          </a:prstGeom>
          <a:noFill/>
        </p:spPr>
        <p:txBody>
          <a:bodyPr wrap="square" lIns="0" rIns="0" tIns="0" bIns="0" anchor="t">
            <a:spAutoFit/>
          </a:bodyPr>
          <a:lstStyle/>
          <a:p>
            <a:pPr algn="l">
              <a:spcAft>
                <a:spcPts val="200"/>
              </a:spcAft>
              <a:defRPr sz="1800" b="1">
                <a:solidFill>
                  <a:srgbClr val="D3A13B"/>
                </a:solidFill>
                <a:latin typeface="Georgia"/>
              </a:defRPr>
            </a:pPr>
            <a:r>
              <a:t>01</a:t>
            </a:r>
          </a:p>
        </p:txBody>
      </p:sp>
      <p:sp>
        <p:nvSpPr>
          <p:cNvPr id="13" name="TextBox 12"/>
          <p:cNvSpPr txBox="1"/>
          <p:nvPr/>
        </p:nvSpPr>
        <p:spPr>
          <a:xfrm>
            <a:off x="1270000" y="3314700"/>
            <a:ext cx="4191000" cy="3302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Обычная работа</a:t>
            </a:r>
          </a:p>
        </p:txBody>
      </p:sp>
      <p:sp>
        <p:nvSpPr>
          <p:cNvPr id="14" name="TextBox 13"/>
          <p:cNvSpPr txBox="1"/>
          <p:nvPr/>
        </p:nvSpPr>
        <p:spPr>
          <a:xfrm>
            <a:off x="1270000" y="3746500"/>
            <a:ext cx="4216400" cy="4699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Повторить основные действия пользователя</a:t>
            </a:r>
          </a:p>
        </p:txBody>
      </p:sp>
      <p:sp>
        <p:nvSpPr>
          <p:cNvPr id="15" name="TextBox 14"/>
          <p:cNvSpPr txBox="1"/>
          <p:nvPr/>
        </p:nvSpPr>
        <p:spPr>
          <a:xfrm>
            <a:off x="6096000" y="3314700"/>
            <a:ext cx="571500" cy="393700"/>
          </a:xfrm>
          <a:prstGeom prst="rect">
            <a:avLst/>
          </a:prstGeom>
          <a:noFill/>
        </p:spPr>
        <p:txBody>
          <a:bodyPr wrap="square" lIns="0" rIns="0" tIns="0" bIns="0" anchor="t">
            <a:spAutoFit/>
          </a:bodyPr>
          <a:lstStyle/>
          <a:p>
            <a:pPr algn="l">
              <a:spcAft>
                <a:spcPts val="200"/>
              </a:spcAft>
              <a:defRPr sz="1800" b="1">
                <a:solidFill>
                  <a:srgbClr val="D3A13B"/>
                </a:solidFill>
                <a:latin typeface="Georgia"/>
              </a:defRPr>
            </a:pPr>
            <a:r>
              <a:t>02</a:t>
            </a:r>
          </a:p>
        </p:txBody>
      </p:sp>
      <p:sp>
        <p:nvSpPr>
          <p:cNvPr id="16" name="TextBox 15"/>
          <p:cNvSpPr txBox="1"/>
          <p:nvPr/>
        </p:nvSpPr>
        <p:spPr>
          <a:xfrm>
            <a:off x="6832600" y="3314700"/>
            <a:ext cx="4191000" cy="3302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Работа при ошибке</a:t>
            </a:r>
          </a:p>
        </p:txBody>
      </p:sp>
      <p:sp>
        <p:nvSpPr>
          <p:cNvPr id="17" name="TextBox 16"/>
          <p:cNvSpPr txBox="1"/>
          <p:nvPr/>
        </p:nvSpPr>
        <p:spPr>
          <a:xfrm>
            <a:off x="6832600" y="3746500"/>
            <a:ext cx="4216400" cy="4699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Отключить интернет или запретить разрешение</a:t>
            </a:r>
          </a:p>
        </p:txBody>
      </p:sp>
      <p:sp>
        <p:nvSpPr>
          <p:cNvPr id="18" name="TextBox 17"/>
          <p:cNvSpPr txBox="1"/>
          <p:nvPr/>
        </p:nvSpPr>
        <p:spPr>
          <a:xfrm>
            <a:off x="533400" y="4597400"/>
            <a:ext cx="571500" cy="393700"/>
          </a:xfrm>
          <a:prstGeom prst="rect">
            <a:avLst/>
          </a:prstGeom>
          <a:noFill/>
        </p:spPr>
        <p:txBody>
          <a:bodyPr wrap="square" lIns="0" rIns="0" tIns="0" bIns="0" anchor="t">
            <a:spAutoFit/>
          </a:bodyPr>
          <a:lstStyle/>
          <a:p>
            <a:pPr algn="l">
              <a:spcAft>
                <a:spcPts val="200"/>
              </a:spcAft>
              <a:defRPr sz="1800" b="1">
                <a:solidFill>
                  <a:srgbClr val="D3A13B"/>
                </a:solidFill>
                <a:latin typeface="Georgia"/>
              </a:defRPr>
            </a:pPr>
            <a:r>
              <a:t>03</a:t>
            </a:r>
          </a:p>
        </p:txBody>
      </p:sp>
      <p:sp>
        <p:nvSpPr>
          <p:cNvPr id="19" name="TextBox 18"/>
          <p:cNvSpPr txBox="1"/>
          <p:nvPr/>
        </p:nvSpPr>
        <p:spPr>
          <a:xfrm>
            <a:off x="1270000" y="4597400"/>
            <a:ext cx="4191000" cy="3302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Сложные случаи</a:t>
            </a:r>
          </a:p>
        </p:txBody>
      </p:sp>
      <p:sp>
        <p:nvSpPr>
          <p:cNvPr id="20" name="TextBox 19"/>
          <p:cNvSpPr txBox="1"/>
          <p:nvPr/>
        </p:nvSpPr>
        <p:spPr>
          <a:xfrm>
            <a:off x="1270000" y="5029200"/>
            <a:ext cx="4216400" cy="4699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Проверить большие файлы и отсутствие компаса</a:t>
            </a:r>
          </a:p>
        </p:txBody>
      </p:sp>
      <p:sp>
        <p:nvSpPr>
          <p:cNvPr id="21" name="TextBox 20"/>
          <p:cNvSpPr txBox="1"/>
          <p:nvPr/>
        </p:nvSpPr>
        <p:spPr>
          <a:xfrm>
            <a:off x="6096000" y="4597400"/>
            <a:ext cx="571500" cy="393700"/>
          </a:xfrm>
          <a:prstGeom prst="rect">
            <a:avLst/>
          </a:prstGeom>
          <a:noFill/>
        </p:spPr>
        <p:txBody>
          <a:bodyPr wrap="square" lIns="0" rIns="0" tIns="0" bIns="0" anchor="t">
            <a:spAutoFit/>
          </a:bodyPr>
          <a:lstStyle/>
          <a:p>
            <a:pPr algn="l">
              <a:spcAft>
                <a:spcPts val="200"/>
              </a:spcAft>
              <a:defRPr sz="1800" b="1">
                <a:solidFill>
                  <a:srgbClr val="D3A13B"/>
                </a:solidFill>
                <a:latin typeface="Georgia"/>
              </a:defRPr>
            </a:pPr>
            <a:r>
              <a:t>04</a:t>
            </a:r>
          </a:p>
        </p:txBody>
      </p:sp>
      <p:sp>
        <p:nvSpPr>
          <p:cNvPr id="22" name="TextBox 21"/>
          <p:cNvSpPr txBox="1"/>
          <p:nvPr/>
        </p:nvSpPr>
        <p:spPr>
          <a:xfrm>
            <a:off x="6832600" y="4597400"/>
            <a:ext cx="4191000" cy="3302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Повторная проверка</a:t>
            </a:r>
          </a:p>
        </p:txBody>
      </p:sp>
      <p:sp>
        <p:nvSpPr>
          <p:cNvPr id="23" name="TextBox 22"/>
          <p:cNvSpPr txBox="1"/>
          <p:nvPr/>
        </p:nvSpPr>
        <p:spPr>
          <a:xfrm>
            <a:off x="6832600" y="5029200"/>
            <a:ext cx="4216400" cy="4699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Ещё раз пройти всё после исправлений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ПОДГОТОВКА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04</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С чего я начал проверку</a:t>
            </a:r>
          </a:p>
        </p:txBody>
      </p:sp>
      <p:sp>
        <p:nvSpPr>
          <p:cNvPr id="9" name="Rectangle 8"/>
          <p:cNvSpPr/>
          <p:nvPr/>
        </p:nvSpPr>
        <p:spPr>
          <a:xfrm>
            <a:off x="6731000" y="1333500"/>
            <a:ext cx="4800600" cy="4445000"/>
          </a:xfrm>
          <a:prstGeom prst="rect">
            <a:avLst/>
          </a:prstGeom>
          <a:solidFill>
            <a:srgbClr val="121A1D"/>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478736" y="1409700"/>
            <a:ext cx="3305127" cy="4292600"/>
          </a:xfrm>
          <a:prstGeom prst="rect">
            <a:avLst/>
          </a:prstGeom>
        </p:spPr>
      </p:pic>
      <p:sp>
        <p:nvSpPr>
          <p:cNvPr id="11" name="TextBox 10"/>
          <p:cNvSpPr txBox="1"/>
          <p:nvPr/>
        </p:nvSpPr>
        <p:spPr>
          <a:xfrm>
            <a:off x="533400" y="1739900"/>
            <a:ext cx="5334000" cy="254000"/>
          </a:xfrm>
          <a:prstGeom prst="rect">
            <a:avLst/>
          </a:prstGeom>
          <a:noFill/>
        </p:spPr>
        <p:txBody>
          <a:bodyPr wrap="square" lIns="0" rIns="0" tIns="0" bIns="0" anchor="t">
            <a:spAutoFit/>
          </a:bodyPr>
          <a:lstStyle/>
          <a:p>
            <a:pPr algn="l">
              <a:spcAft>
                <a:spcPts val="200"/>
              </a:spcAft>
              <a:defRPr sz="1100" b="1">
                <a:solidFill>
                  <a:srgbClr val="B95F4B"/>
                </a:solidFill>
                <a:latin typeface="Segoe UI"/>
              </a:defRPr>
            </a:pPr>
            <a:r>
              <a:t>ОСНОВНЫЕ ЧАСТИ ПРОЕКТА</a:t>
            </a:r>
          </a:p>
        </p:txBody>
      </p:sp>
      <p:sp>
        <p:nvSpPr>
          <p:cNvPr id="12" name="TextBox 11"/>
          <p:cNvSpPr txBox="1"/>
          <p:nvPr/>
        </p:nvSpPr>
        <p:spPr>
          <a:xfrm>
            <a:off x="533400" y="22606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01</a:t>
            </a:r>
          </a:p>
        </p:txBody>
      </p:sp>
      <p:sp>
        <p:nvSpPr>
          <p:cNvPr id="13" name="TextBox 12"/>
          <p:cNvSpPr txBox="1"/>
          <p:nvPr/>
        </p:nvSpPr>
        <p:spPr>
          <a:xfrm>
            <a:off x="1092200" y="2260600"/>
            <a:ext cx="4826000" cy="3175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сервис загрузки видео</a:t>
            </a:r>
          </a:p>
        </p:txBody>
      </p:sp>
      <p:sp>
        <p:nvSpPr>
          <p:cNvPr id="14" name="TextBox 13"/>
          <p:cNvSpPr txBox="1"/>
          <p:nvPr/>
        </p:nvSpPr>
        <p:spPr>
          <a:xfrm>
            <a:off x="533400" y="28194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02</a:t>
            </a:r>
          </a:p>
        </p:txBody>
      </p:sp>
      <p:sp>
        <p:nvSpPr>
          <p:cNvPr id="15" name="TextBox 14"/>
          <p:cNvSpPr txBox="1"/>
          <p:nvPr/>
        </p:nvSpPr>
        <p:spPr>
          <a:xfrm>
            <a:off x="1092200" y="2819400"/>
            <a:ext cx="4826000" cy="3175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данные о видеоуроке</a:t>
            </a:r>
          </a:p>
        </p:txBody>
      </p:sp>
      <p:sp>
        <p:nvSpPr>
          <p:cNvPr id="16" name="TextBox 15"/>
          <p:cNvSpPr txBox="1"/>
          <p:nvPr/>
        </p:nvSpPr>
        <p:spPr>
          <a:xfrm>
            <a:off x="533400" y="33782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03</a:t>
            </a:r>
          </a:p>
        </p:txBody>
      </p:sp>
      <p:sp>
        <p:nvSpPr>
          <p:cNvPr id="17" name="TextBox 16"/>
          <p:cNvSpPr txBox="1"/>
          <p:nvPr/>
        </p:nvSpPr>
        <p:spPr>
          <a:xfrm>
            <a:off x="1092200" y="3378200"/>
            <a:ext cx="4826000" cy="3175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видеоплеер</a:t>
            </a:r>
          </a:p>
        </p:txBody>
      </p:sp>
      <p:sp>
        <p:nvSpPr>
          <p:cNvPr id="18" name="TextBox 17"/>
          <p:cNvSpPr txBox="1"/>
          <p:nvPr/>
        </p:nvSpPr>
        <p:spPr>
          <a:xfrm>
            <a:off x="533400" y="39370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04</a:t>
            </a:r>
          </a:p>
        </p:txBody>
      </p:sp>
      <p:sp>
        <p:nvSpPr>
          <p:cNvPr id="19" name="TextBox 18"/>
          <p:cNvSpPr txBox="1"/>
          <p:nvPr/>
        </p:nvSpPr>
        <p:spPr>
          <a:xfrm>
            <a:off x="1092200" y="3937000"/>
            <a:ext cx="4826000" cy="3175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расчёт времени намазов</a:t>
            </a:r>
          </a:p>
        </p:txBody>
      </p:sp>
      <p:sp>
        <p:nvSpPr>
          <p:cNvPr id="20" name="TextBox 19"/>
          <p:cNvSpPr txBox="1"/>
          <p:nvPr/>
        </p:nvSpPr>
        <p:spPr>
          <a:xfrm>
            <a:off x="533400" y="44958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05</a:t>
            </a:r>
          </a:p>
        </p:txBody>
      </p:sp>
      <p:sp>
        <p:nvSpPr>
          <p:cNvPr id="21" name="TextBox 20"/>
          <p:cNvSpPr txBox="1"/>
          <p:nvPr/>
        </p:nvSpPr>
        <p:spPr>
          <a:xfrm>
            <a:off x="1092200" y="4495800"/>
            <a:ext cx="4826000" cy="3175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определение Кыблы</a:t>
            </a:r>
          </a:p>
        </p:txBody>
      </p:sp>
      <p:sp>
        <p:nvSpPr>
          <p:cNvPr id="22" name="TextBox 21"/>
          <p:cNvSpPr txBox="1"/>
          <p:nvPr/>
        </p:nvSpPr>
        <p:spPr>
          <a:xfrm>
            <a:off x="533400" y="5054600"/>
            <a:ext cx="4318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06</a:t>
            </a:r>
          </a:p>
        </p:txBody>
      </p:sp>
      <p:sp>
        <p:nvSpPr>
          <p:cNvPr id="23" name="TextBox 22"/>
          <p:cNvSpPr txBox="1"/>
          <p:nvPr/>
        </p:nvSpPr>
        <p:spPr>
          <a:xfrm>
            <a:off x="1092200" y="5054600"/>
            <a:ext cx="4826000" cy="3175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напоминания</a:t>
            </a:r>
          </a:p>
        </p:txBody>
      </p:sp>
      <p:sp>
        <p:nvSpPr>
          <p:cNvPr id="24" name="TextBox 23"/>
          <p:cNvSpPr txBox="1"/>
          <p:nvPr/>
        </p:nvSpPr>
        <p:spPr>
          <a:xfrm>
            <a:off x="6731000" y="5816600"/>
            <a:ext cx="4800600" cy="431800"/>
          </a:xfrm>
          <a:prstGeom prst="rect">
            <a:avLst/>
          </a:prstGeom>
          <a:noFill/>
        </p:spPr>
        <p:txBody>
          <a:bodyPr wrap="square" lIns="0" rIns="0" tIns="0" bIns="0" anchor="t">
            <a:spAutoFit/>
          </a:bodyPr>
          <a:lstStyle/>
          <a:p>
            <a:pPr algn="ctr">
              <a:spcAft>
                <a:spcPts val="200"/>
              </a:spcAft>
              <a:defRPr sz="1200" b="0">
                <a:solidFill>
                  <a:srgbClr val="60727B"/>
                </a:solidFill>
                <a:latin typeface="Segoe UI"/>
              </a:defRPr>
            </a:pPr>
            <a:r>
              <a:t>Я нашёл файлы, которые отвечают за выбранные функции.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КАК ПРОХОДИЛА РАБОТА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05</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Как я проверял каждую функцию</a:t>
            </a:r>
          </a:p>
        </p:txBody>
      </p:sp>
      <p:cxnSp>
        <p:nvCxnSpPr>
          <p:cNvPr id="9" name="Connector 8"/>
          <p:cNvCxnSpPr/>
          <p:nvPr/>
        </p:nvCxnSpPr>
        <p:spPr>
          <a:xfrm>
            <a:off x="1181100" y="2692400"/>
            <a:ext cx="9804400" cy="0"/>
          </a:xfrm>
          <a:prstGeom prst="line">
            <a:avLst/>
          </a:prstGeom>
          <a:ln w="38100">
            <a:solidFill>
              <a:srgbClr val="D3A13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14400" y="2349500"/>
            <a:ext cx="685800" cy="685800"/>
          </a:xfrm>
          <a:prstGeom prst="ellipse">
            <a:avLst/>
          </a:prstGeom>
          <a:solidFill>
            <a:srgbClr val="FBF8F1"/>
          </a:solidFill>
          <a:ln>
            <a:solidFill>
              <a:srgbClr val="D3A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27300"/>
            <a:ext cx="685800" cy="2794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1</a:t>
            </a:r>
          </a:p>
        </p:txBody>
      </p:sp>
      <p:sp>
        <p:nvSpPr>
          <p:cNvPr id="12" name="TextBox 11"/>
          <p:cNvSpPr txBox="1"/>
          <p:nvPr/>
        </p:nvSpPr>
        <p:spPr>
          <a:xfrm>
            <a:off x="558800" y="3314700"/>
            <a:ext cx="1397000" cy="317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Подготовил</a:t>
            </a:r>
          </a:p>
        </p:txBody>
      </p:sp>
      <p:sp>
        <p:nvSpPr>
          <p:cNvPr id="13" name="TextBox 12"/>
          <p:cNvSpPr txBox="1"/>
          <p:nvPr/>
        </p:nvSpPr>
        <p:spPr>
          <a:xfrm>
            <a:off x="406400" y="3810000"/>
            <a:ext cx="1701800" cy="7366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Открыл экран и выбрал данные</a:t>
            </a:r>
          </a:p>
        </p:txBody>
      </p:sp>
      <p:sp>
        <p:nvSpPr>
          <p:cNvPr id="14" name="Oval 13"/>
          <p:cNvSpPr/>
          <p:nvPr/>
        </p:nvSpPr>
        <p:spPr>
          <a:xfrm>
            <a:off x="3175000" y="2349500"/>
            <a:ext cx="685800" cy="685800"/>
          </a:xfrm>
          <a:prstGeom prst="ellipse">
            <a:avLst/>
          </a:prstGeom>
          <a:solidFill>
            <a:srgbClr val="FBF8F1"/>
          </a:solidFill>
          <a:ln>
            <a:solidFill>
              <a:srgbClr val="D3A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5000" y="2527300"/>
            <a:ext cx="685800" cy="2794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2</a:t>
            </a:r>
          </a:p>
        </p:txBody>
      </p:sp>
      <p:sp>
        <p:nvSpPr>
          <p:cNvPr id="16" name="TextBox 15"/>
          <p:cNvSpPr txBox="1"/>
          <p:nvPr/>
        </p:nvSpPr>
        <p:spPr>
          <a:xfrm>
            <a:off x="2819400" y="3314700"/>
            <a:ext cx="1397000" cy="317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Выполнил</a:t>
            </a:r>
          </a:p>
        </p:txBody>
      </p:sp>
      <p:sp>
        <p:nvSpPr>
          <p:cNvPr id="17" name="TextBox 16"/>
          <p:cNvSpPr txBox="1"/>
          <p:nvPr/>
        </p:nvSpPr>
        <p:spPr>
          <a:xfrm>
            <a:off x="2667000" y="3810000"/>
            <a:ext cx="1701800" cy="7366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Повторил действия пользователя</a:t>
            </a:r>
          </a:p>
        </p:txBody>
      </p:sp>
      <p:sp>
        <p:nvSpPr>
          <p:cNvPr id="18" name="Oval 17"/>
          <p:cNvSpPr/>
          <p:nvPr/>
        </p:nvSpPr>
        <p:spPr>
          <a:xfrm>
            <a:off x="5435600" y="2349500"/>
            <a:ext cx="685800" cy="685800"/>
          </a:xfrm>
          <a:prstGeom prst="ellipse">
            <a:avLst/>
          </a:prstGeom>
          <a:solidFill>
            <a:srgbClr val="FBF8F1"/>
          </a:solidFill>
          <a:ln>
            <a:solidFill>
              <a:srgbClr val="D3A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35600" y="2527300"/>
            <a:ext cx="685800" cy="2794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3</a:t>
            </a:r>
          </a:p>
        </p:txBody>
      </p:sp>
      <p:sp>
        <p:nvSpPr>
          <p:cNvPr id="20" name="TextBox 19"/>
          <p:cNvSpPr txBox="1"/>
          <p:nvPr/>
        </p:nvSpPr>
        <p:spPr>
          <a:xfrm>
            <a:off x="5080000" y="3314700"/>
            <a:ext cx="1397000" cy="317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Сравнил</a:t>
            </a:r>
          </a:p>
        </p:txBody>
      </p:sp>
      <p:sp>
        <p:nvSpPr>
          <p:cNvPr id="21" name="TextBox 20"/>
          <p:cNvSpPr txBox="1"/>
          <p:nvPr/>
        </p:nvSpPr>
        <p:spPr>
          <a:xfrm>
            <a:off x="4927600" y="3810000"/>
            <a:ext cx="1701800" cy="7366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Проверил ожидаемый результат</a:t>
            </a:r>
          </a:p>
        </p:txBody>
      </p:sp>
      <p:sp>
        <p:nvSpPr>
          <p:cNvPr id="22" name="Oval 21"/>
          <p:cNvSpPr/>
          <p:nvPr/>
        </p:nvSpPr>
        <p:spPr>
          <a:xfrm>
            <a:off x="7696200" y="2349500"/>
            <a:ext cx="685800" cy="685800"/>
          </a:xfrm>
          <a:prstGeom prst="ellipse">
            <a:avLst/>
          </a:prstGeom>
          <a:solidFill>
            <a:srgbClr val="FBF8F1"/>
          </a:solidFill>
          <a:ln>
            <a:solidFill>
              <a:srgbClr val="D3A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6200" y="2527300"/>
            <a:ext cx="685800" cy="2794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4</a:t>
            </a:r>
          </a:p>
        </p:txBody>
      </p:sp>
      <p:sp>
        <p:nvSpPr>
          <p:cNvPr id="24" name="TextBox 23"/>
          <p:cNvSpPr txBox="1"/>
          <p:nvPr/>
        </p:nvSpPr>
        <p:spPr>
          <a:xfrm>
            <a:off x="7340600" y="3314700"/>
            <a:ext cx="1397000" cy="317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Записал</a:t>
            </a:r>
          </a:p>
        </p:txBody>
      </p:sp>
      <p:sp>
        <p:nvSpPr>
          <p:cNvPr id="25" name="TextBox 24"/>
          <p:cNvSpPr txBox="1"/>
          <p:nvPr/>
        </p:nvSpPr>
        <p:spPr>
          <a:xfrm>
            <a:off x="7188200" y="3810000"/>
            <a:ext cx="1701800" cy="7366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Отметил итог или ошибку</a:t>
            </a:r>
          </a:p>
        </p:txBody>
      </p:sp>
      <p:sp>
        <p:nvSpPr>
          <p:cNvPr id="26" name="Oval 25"/>
          <p:cNvSpPr/>
          <p:nvPr/>
        </p:nvSpPr>
        <p:spPr>
          <a:xfrm>
            <a:off x="9956800" y="2349500"/>
            <a:ext cx="685800" cy="685800"/>
          </a:xfrm>
          <a:prstGeom prst="ellipse">
            <a:avLst/>
          </a:prstGeom>
          <a:solidFill>
            <a:srgbClr val="FBF8F1"/>
          </a:solidFill>
          <a:ln>
            <a:solidFill>
              <a:srgbClr val="D3A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56800" y="2527300"/>
            <a:ext cx="685800" cy="2794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5</a:t>
            </a:r>
          </a:p>
        </p:txBody>
      </p:sp>
      <p:sp>
        <p:nvSpPr>
          <p:cNvPr id="28" name="TextBox 27"/>
          <p:cNvSpPr txBox="1"/>
          <p:nvPr/>
        </p:nvSpPr>
        <p:spPr>
          <a:xfrm>
            <a:off x="9601200" y="3314700"/>
            <a:ext cx="1397000" cy="317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Повторил</a:t>
            </a:r>
          </a:p>
        </p:txBody>
      </p:sp>
      <p:sp>
        <p:nvSpPr>
          <p:cNvPr id="29" name="TextBox 28"/>
          <p:cNvSpPr txBox="1"/>
          <p:nvPr/>
        </p:nvSpPr>
        <p:spPr>
          <a:xfrm>
            <a:off x="9448800" y="3810000"/>
            <a:ext cx="1701800" cy="7366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Снова проверил после исправления</a:t>
            </a:r>
          </a:p>
        </p:txBody>
      </p:sp>
      <p:sp>
        <p:nvSpPr>
          <p:cNvPr id="30" name="Rectangle 29"/>
          <p:cNvSpPr/>
          <p:nvPr/>
        </p:nvSpPr>
        <p:spPr>
          <a:xfrm>
            <a:off x="1397000" y="4940300"/>
            <a:ext cx="9398000" cy="965200"/>
          </a:xfrm>
          <a:prstGeom prst="rect">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52600" y="5143500"/>
            <a:ext cx="8686800" cy="571500"/>
          </a:xfrm>
          <a:prstGeom prst="rect">
            <a:avLst/>
          </a:prstGeom>
          <a:noFill/>
        </p:spPr>
        <p:txBody>
          <a:bodyPr wrap="square" lIns="0" rIns="0" tIns="0" bIns="0" anchor="t">
            <a:spAutoFit/>
          </a:bodyPr>
          <a:lstStyle/>
          <a:p>
            <a:pPr algn="ctr">
              <a:spcAft>
                <a:spcPts val="200"/>
              </a:spcAft>
              <a:defRPr sz="1600" b="1">
                <a:solidFill>
                  <a:srgbClr val="FFFFFF"/>
                </a:solidFill>
                <a:latin typeface="Segoe UI"/>
              </a:defRPr>
            </a:pPr>
            <a:r>
              <a:t>Для каждой проверки я записывал, что должно произойти и что произошло на самом деле.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06</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От выбора файла до просмотра урока</a:t>
            </a:r>
          </a:p>
        </p:txBody>
      </p:sp>
      <p:sp>
        <p:nvSpPr>
          <p:cNvPr id="9" name="Rectangle 8"/>
          <p:cNvSpPr/>
          <p:nvPr/>
        </p:nvSpPr>
        <p:spPr>
          <a:xfrm>
            <a:off x="533400" y="1778000"/>
            <a:ext cx="11125200" cy="2717800"/>
          </a:xfrm>
          <a:prstGeom prst="rect">
            <a:avLst/>
          </a:prstGeom>
          <a:solidFill>
            <a:srgbClr val="18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108200"/>
            <a:ext cx="571500" cy="3683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01</a:t>
            </a:r>
          </a:p>
        </p:txBody>
      </p:sp>
      <p:sp>
        <p:nvSpPr>
          <p:cNvPr id="11" name="TextBox 10"/>
          <p:cNvSpPr txBox="1"/>
          <p:nvPr/>
        </p:nvSpPr>
        <p:spPr>
          <a:xfrm>
            <a:off x="838200" y="2705100"/>
            <a:ext cx="1841500" cy="317500"/>
          </a:xfrm>
          <a:prstGeom prst="rect">
            <a:avLst/>
          </a:prstGeom>
          <a:noFill/>
        </p:spPr>
        <p:txBody>
          <a:bodyPr wrap="square" lIns="0" rIns="0" tIns="0" bIns="0" anchor="t">
            <a:spAutoFit/>
          </a:bodyPr>
          <a:lstStyle/>
          <a:p>
            <a:pPr algn="l">
              <a:spcAft>
                <a:spcPts val="200"/>
              </a:spcAft>
              <a:defRPr sz="1700" b="1">
                <a:solidFill>
                  <a:srgbClr val="FFFFFF"/>
                </a:solidFill>
                <a:latin typeface="Georgia"/>
              </a:defRPr>
            </a:pPr>
            <a:r>
              <a:t>Файл</a:t>
            </a:r>
          </a:p>
        </p:txBody>
      </p:sp>
      <p:sp>
        <p:nvSpPr>
          <p:cNvPr id="12" name="TextBox 11"/>
          <p:cNvSpPr txBox="1"/>
          <p:nvPr/>
        </p:nvSpPr>
        <p:spPr>
          <a:xfrm>
            <a:off x="838200" y="3225800"/>
            <a:ext cx="1816100" cy="546100"/>
          </a:xfrm>
          <a:prstGeom prst="rect">
            <a:avLst/>
          </a:prstGeom>
          <a:noFill/>
        </p:spPr>
        <p:txBody>
          <a:bodyPr wrap="square" lIns="0" rIns="0" tIns="0" bIns="0" anchor="t">
            <a:spAutoFit/>
          </a:bodyPr>
          <a:lstStyle/>
          <a:p>
            <a:pPr algn="l">
              <a:spcAft>
                <a:spcPts val="200"/>
              </a:spcAft>
              <a:defRPr sz="1300" b="0">
                <a:solidFill>
                  <a:srgbClr val="F1E9D8"/>
                </a:solidFill>
                <a:latin typeface="Segoe UI"/>
              </a:defRPr>
            </a:pPr>
            <a:r>
              <a:t>выбор на устройстве</a:t>
            </a:r>
          </a:p>
        </p:txBody>
      </p:sp>
      <p:cxnSp>
        <p:nvCxnSpPr>
          <p:cNvPr id="13" name="Connector 12"/>
          <p:cNvCxnSpPr/>
          <p:nvPr/>
        </p:nvCxnSpPr>
        <p:spPr>
          <a:xfrm>
            <a:off x="2578100" y="2908300"/>
            <a:ext cx="330200" cy="0"/>
          </a:xfrm>
          <a:prstGeom prst="line">
            <a:avLst/>
          </a:prstGeom>
          <a:ln w="25400">
            <a:solidFill>
              <a:srgbClr val="D3A13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022600" y="2108200"/>
            <a:ext cx="571500" cy="3683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02</a:t>
            </a:r>
          </a:p>
        </p:txBody>
      </p:sp>
      <p:sp>
        <p:nvSpPr>
          <p:cNvPr id="15" name="TextBox 14"/>
          <p:cNvSpPr txBox="1"/>
          <p:nvPr/>
        </p:nvSpPr>
        <p:spPr>
          <a:xfrm>
            <a:off x="3022600" y="2705100"/>
            <a:ext cx="1841500" cy="317500"/>
          </a:xfrm>
          <a:prstGeom prst="rect">
            <a:avLst/>
          </a:prstGeom>
          <a:noFill/>
        </p:spPr>
        <p:txBody>
          <a:bodyPr wrap="square" lIns="0" rIns="0" tIns="0" bIns="0" anchor="t">
            <a:spAutoFit/>
          </a:bodyPr>
          <a:lstStyle/>
          <a:p>
            <a:pPr algn="l">
              <a:spcAft>
                <a:spcPts val="200"/>
              </a:spcAft>
              <a:defRPr sz="1700" b="1">
                <a:solidFill>
                  <a:srgbClr val="FFFFFF"/>
                </a:solidFill>
                <a:latin typeface="Georgia"/>
              </a:defRPr>
            </a:pPr>
            <a:r>
              <a:t>Загрузка</a:t>
            </a:r>
          </a:p>
        </p:txBody>
      </p:sp>
      <p:sp>
        <p:nvSpPr>
          <p:cNvPr id="16" name="TextBox 15"/>
          <p:cNvSpPr txBox="1"/>
          <p:nvPr/>
        </p:nvSpPr>
        <p:spPr>
          <a:xfrm>
            <a:off x="3022600" y="3225800"/>
            <a:ext cx="1816100" cy="546100"/>
          </a:xfrm>
          <a:prstGeom prst="rect">
            <a:avLst/>
          </a:prstGeom>
          <a:noFill/>
        </p:spPr>
        <p:txBody>
          <a:bodyPr wrap="square" lIns="0" rIns="0" tIns="0" bIns="0" anchor="t">
            <a:spAutoFit/>
          </a:bodyPr>
          <a:lstStyle/>
          <a:p>
            <a:pPr algn="l">
              <a:spcAft>
                <a:spcPts val="200"/>
              </a:spcAft>
              <a:defRPr sz="1300" b="0">
                <a:solidFill>
                  <a:srgbClr val="F1E9D8"/>
                </a:solidFill>
                <a:latin typeface="Segoe UI"/>
              </a:defRPr>
            </a:pPr>
            <a:r>
              <a:t>процент и повтор</a:t>
            </a:r>
          </a:p>
        </p:txBody>
      </p:sp>
      <p:cxnSp>
        <p:nvCxnSpPr>
          <p:cNvPr id="17" name="Connector 16"/>
          <p:cNvCxnSpPr/>
          <p:nvPr/>
        </p:nvCxnSpPr>
        <p:spPr>
          <a:xfrm>
            <a:off x="4762500" y="2908300"/>
            <a:ext cx="330200" cy="0"/>
          </a:xfrm>
          <a:prstGeom prst="line">
            <a:avLst/>
          </a:prstGeom>
          <a:ln w="25400">
            <a:solidFill>
              <a:srgbClr val="D3A13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07000" y="2108200"/>
            <a:ext cx="571500" cy="3683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03</a:t>
            </a:r>
          </a:p>
        </p:txBody>
      </p:sp>
      <p:sp>
        <p:nvSpPr>
          <p:cNvPr id="19" name="TextBox 18"/>
          <p:cNvSpPr txBox="1"/>
          <p:nvPr/>
        </p:nvSpPr>
        <p:spPr>
          <a:xfrm>
            <a:off x="5207000" y="2705100"/>
            <a:ext cx="1841500" cy="317500"/>
          </a:xfrm>
          <a:prstGeom prst="rect">
            <a:avLst/>
          </a:prstGeom>
          <a:noFill/>
        </p:spPr>
        <p:txBody>
          <a:bodyPr wrap="square" lIns="0" rIns="0" tIns="0" bIns="0" anchor="t">
            <a:spAutoFit/>
          </a:bodyPr>
          <a:lstStyle/>
          <a:p>
            <a:pPr algn="l">
              <a:spcAft>
                <a:spcPts val="200"/>
              </a:spcAft>
              <a:defRPr sz="1700" b="1">
                <a:solidFill>
                  <a:srgbClr val="FFFFFF"/>
                </a:solidFill>
                <a:latin typeface="Georgia"/>
              </a:defRPr>
            </a:pPr>
            <a:r>
              <a:t>Хранилище</a:t>
            </a:r>
          </a:p>
        </p:txBody>
      </p:sp>
      <p:sp>
        <p:nvSpPr>
          <p:cNvPr id="20" name="TextBox 19"/>
          <p:cNvSpPr txBox="1"/>
          <p:nvPr/>
        </p:nvSpPr>
        <p:spPr>
          <a:xfrm>
            <a:off x="5207000" y="3225800"/>
            <a:ext cx="1816100" cy="546100"/>
          </a:xfrm>
          <a:prstGeom prst="rect">
            <a:avLst/>
          </a:prstGeom>
          <a:noFill/>
        </p:spPr>
        <p:txBody>
          <a:bodyPr wrap="square" lIns="0" rIns="0" tIns="0" bIns="0" anchor="t">
            <a:spAutoFit/>
          </a:bodyPr>
          <a:lstStyle/>
          <a:p>
            <a:pPr algn="l">
              <a:spcAft>
                <a:spcPts val="200"/>
              </a:spcAft>
              <a:defRPr sz="1300" b="0">
                <a:solidFill>
                  <a:srgbClr val="F1E9D8"/>
                </a:solidFill>
                <a:latin typeface="Segoe UI"/>
              </a:defRPr>
            </a:pPr>
            <a:r>
              <a:t>ссылка и данные</a:t>
            </a:r>
          </a:p>
        </p:txBody>
      </p:sp>
      <p:cxnSp>
        <p:nvCxnSpPr>
          <p:cNvPr id="21" name="Connector 20"/>
          <p:cNvCxnSpPr/>
          <p:nvPr/>
        </p:nvCxnSpPr>
        <p:spPr>
          <a:xfrm>
            <a:off x="6946900" y="2908300"/>
            <a:ext cx="330200" cy="0"/>
          </a:xfrm>
          <a:prstGeom prst="line">
            <a:avLst/>
          </a:prstGeom>
          <a:ln w="25400">
            <a:solidFill>
              <a:srgbClr val="D3A13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91400" y="2108200"/>
            <a:ext cx="571500" cy="3683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04</a:t>
            </a:r>
          </a:p>
        </p:txBody>
      </p:sp>
      <p:sp>
        <p:nvSpPr>
          <p:cNvPr id="23" name="TextBox 22"/>
          <p:cNvSpPr txBox="1"/>
          <p:nvPr/>
        </p:nvSpPr>
        <p:spPr>
          <a:xfrm>
            <a:off x="7391400" y="2705100"/>
            <a:ext cx="1841500" cy="317500"/>
          </a:xfrm>
          <a:prstGeom prst="rect">
            <a:avLst/>
          </a:prstGeom>
          <a:noFill/>
        </p:spPr>
        <p:txBody>
          <a:bodyPr wrap="square" lIns="0" rIns="0" tIns="0" bIns="0" anchor="t">
            <a:spAutoFit/>
          </a:bodyPr>
          <a:lstStyle/>
          <a:p>
            <a:pPr algn="l">
              <a:spcAft>
                <a:spcPts val="200"/>
              </a:spcAft>
              <a:defRPr sz="1700" b="1">
                <a:solidFill>
                  <a:srgbClr val="FFFFFF"/>
                </a:solidFill>
                <a:latin typeface="Georgia"/>
              </a:defRPr>
            </a:pPr>
            <a:r>
              <a:t>База</a:t>
            </a:r>
          </a:p>
        </p:txBody>
      </p:sp>
      <p:sp>
        <p:nvSpPr>
          <p:cNvPr id="24" name="TextBox 23"/>
          <p:cNvSpPr txBox="1"/>
          <p:nvPr/>
        </p:nvSpPr>
        <p:spPr>
          <a:xfrm>
            <a:off x="7391400" y="3225800"/>
            <a:ext cx="1816100" cy="546100"/>
          </a:xfrm>
          <a:prstGeom prst="rect">
            <a:avLst/>
          </a:prstGeom>
          <a:noFill/>
        </p:spPr>
        <p:txBody>
          <a:bodyPr wrap="square" lIns="0" rIns="0" tIns="0" bIns="0" anchor="t">
            <a:spAutoFit/>
          </a:bodyPr>
          <a:lstStyle/>
          <a:p>
            <a:pPr algn="l">
              <a:spcAft>
                <a:spcPts val="200"/>
              </a:spcAft>
              <a:defRPr sz="1300" b="0">
                <a:solidFill>
                  <a:srgbClr val="F1E9D8"/>
                </a:solidFill>
                <a:latin typeface="Segoe UI"/>
              </a:defRPr>
            </a:pPr>
            <a:r>
              <a:t>сохранение урока</a:t>
            </a:r>
          </a:p>
        </p:txBody>
      </p:sp>
      <p:cxnSp>
        <p:nvCxnSpPr>
          <p:cNvPr id="25" name="Connector 24"/>
          <p:cNvCxnSpPr/>
          <p:nvPr/>
        </p:nvCxnSpPr>
        <p:spPr>
          <a:xfrm>
            <a:off x="9131300" y="2908300"/>
            <a:ext cx="330200" cy="0"/>
          </a:xfrm>
          <a:prstGeom prst="line">
            <a:avLst/>
          </a:prstGeom>
          <a:ln w="25400">
            <a:solidFill>
              <a:srgbClr val="D3A13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75800" y="2108200"/>
            <a:ext cx="571500" cy="3683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05</a:t>
            </a:r>
          </a:p>
        </p:txBody>
      </p:sp>
      <p:sp>
        <p:nvSpPr>
          <p:cNvPr id="27" name="TextBox 26"/>
          <p:cNvSpPr txBox="1"/>
          <p:nvPr/>
        </p:nvSpPr>
        <p:spPr>
          <a:xfrm>
            <a:off x="9575800" y="2705100"/>
            <a:ext cx="1841500" cy="317500"/>
          </a:xfrm>
          <a:prstGeom prst="rect">
            <a:avLst/>
          </a:prstGeom>
          <a:noFill/>
        </p:spPr>
        <p:txBody>
          <a:bodyPr wrap="square" lIns="0" rIns="0" tIns="0" bIns="0" anchor="t">
            <a:spAutoFit/>
          </a:bodyPr>
          <a:lstStyle/>
          <a:p>
            <a:pPr algn="l">
              <a:spcAft>
                <a:spcPts val="200"/>
              </a:spcAft>
              <a:defRPr sz="1700" b="1">
                <a:solidFill>
                  <a:srgbClr val="FFFFFF"/>
                </a:solidFill>
                <a:latin typeface="Georgia"/>
              </a:defRPr>
            </a:pPr>
            <a:r>
              <a:t>Плеер</a:t>
            </a:r>
          </a:p>
        </p:txBody>
      </p:sp>
      <p:sp>
        <p:nvSpPr>
          <p:cNvPr id="28" name="TextBox 27"/>
          <p:cNvSpPr txBox="1"/>
          <p:nvPr/>
        </p:nvSpPr>
        <p:spPr>
          <a:xfrm>
            <a:off x="9575800" y="3225800"/>
            <a:ext cx="1816100" cy="546100"/>
          </a:xfrm>
          <a:prstGeom prst="rect">
            <a:avLst/>
          </a:prstGeom>
          <a:noFill/>
        </p:spPr>
        <p:txBody>
          <a:bodyPr wrap="square" lIns="0" rIns="0" tIns="0" bIns="0" anchor="t">
            <a:spAutoFit/>
          </a:bodyPr>
          <a:lstStyle/>
          <a:p>
            <a:pPr algn="l">
              <a:spcAft>
                <a:spcPts val="200"/>
              </a:spcAft>
              <a:defRPr sz="1300" b="0">
                <a:solidFill>
                  <a:srgbClr val="F1E9D8"/>
                </a:solidFill>
                <a:latin typeface="Segoe UI"/>
              </a:defRPr>
            </a:pPr>
            <a:r>
              <a:t>просмотр учеником</a:t>
            </a:r>
          </a:p>
        </p:txBody>
      </p:sp>
      <p:sp>
        <p:nvSpPr>
          <p:cNvPr id="29" name="TextBox 28"/>
          <p:cNvSpPr txBox="1"/>
          <p:nvPr/>
        </p:nvSpPr>
        <p:spPr>
          <a:xfrm>
            <a:off x="533400" y="4978400"/>
            <a:ext cx="3302000" cy="266700"/>
          </a:xfrm>
          <a:prstGeom prst="rect">
            <a:avLst/>
          </a:prstGeom>
          <a:noFill/>
        </p:spPr>
        <p:txBody>
          <a:bodyPr wrap="square" lIns="0" rIns="0" tIns="0" bIns="0" anchor="t">
            <a:spAutoFit/>
          </a:bodyPr>
          <a:lstStyle/>
          <a:p>
            <a:pPr algn="l">
              <a:spcAft>
                <a:spcPts val="200"/>
              </a:spcAft>
              <a:defRPr sz="1100" b="1">
                <a:solidFill>
                  <a:srgbClr val="B95F4B"/>
                </a:solidFill>
                <a:latin typeface="Segoe UI"/>
              </a:defRPr>
            </a:pPr>
            <a:r>
              <a:t>КОГДА ПРОВЕРКА ЗАВЕРШЕНА</a:t>
            </a:r>
          </a:p>
        </p:txBody>
      </p:sp>
      <p:sp>
        <p:nvSpPr>
          <p:cNvPr id="30" name="TextBox 29"/>
          <p:cNvSpPr txBox="1"/>
          <p:nvPr/>
        </p:nvSpPr>
        <p:spPr>
          <a:xfrm>
            <a:off x="533400" y="5384800"/>
            <a:ext cx="10033000" cy="584200"/>
          </a:xfrm>
          <a:prstGeom prst="rect">
            <a:avLst/>
          </a:prstGeom>
          <a:noFill/>
        </p:spPr>
        <p:txBody>
          <a:bodyPr wrap="square" lIns="0" rIns="0" tIns="0" bIns="0" anchor="t">
            <a:spAutoFit/>
          </a:bodyPr>
          <a:lstStyle/>
          <a:p>
            <a:pPr algn="l">
              <a:spcAft>
                <a:spcPts val="200"/>
              </a:spcAft>
              <a:defRPr sz="1900" b="1">
                <a:solidFill>
                  <a:srgbClr val="18313F"/>
                </a:solidFill>
                <a:latin typeface="Georgia"/>
              </a:defRPr>
            </a:pPr>
            <a:r>
              <a:t>Урок появляется в списке и открывает тот же файл, который был выбран администратором.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ВЫБОР ФАЙЛА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07</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Выбор видео в админ-панели</a:t>
            </a:r>
          </a:p>
        </p:txBody>
      </p:sp>
      <p:sp>
        <p:nvSpPr>
          <p:cNvPr id="9" name="Rectangle 8"/>
          <p:cNvSpPr/>
          <p:nvPr/>
        </p:nvSpPr>
        <p:spPr>
          <a:xfrm>
            <a:off x="6261100" y="1473200"/>
            <a:ext cx="5270500" cy="43561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824493" y="1574800"/>
            <a:ext cx="4143712" cy="4152900"/>
          </a:xfrm>
          <a:prstGeom prst="rect">
            <a:avLst/>
          </a:prstGeom>
        </p:spPr>
      </p:pic>
      <p:sp>
        <p:nvSpPr>
          <p:cNvPr id="11" name="TextBox 10"/>
          <p:cNvSpPr txBox="1"/>
          <p:nvPr/>
        </p:nvSpPr>
        <p:spPr>
          <a:xfrm>
            <a:off x="533400" y="1816100"/>
            <a:ext cx="2921000" cy="330200"/>
          </a:xfrm>
          <a:prstGeom prst="rect">
            <a:avLst/>
          </a:prstGeom>
          <a:noFill/>
        </p:spPr>
        <p:txBody>
          <a:bodyPr wrap="square" lIns="0" rIns="0" tIns="0" bIns="0" anchor="t">
            <a:spAutoFit/>
          </a:bodyPr>
          <a:lstStyle/>
          <a:p>
            <a:pPr algn="l">
              <a:spcAft>
                <a:spcPts val="200"/>
              </a:spcAft>
              <a:defRPr sz="1300" b="1">
                <a:solidFill>
                  <a:srgbClr val="B95F4B"/>
                </a:solidFill>
                <a:latin typeface="Segoe UI"/>
              </a:defRPr>
            </a:pPr>
            <a:r>
              <a:t>Проверено</a:t>
            </a:r>
          </a:p>
        </p:txBody>
      </p:sp>
      <p:sp>
        <p:nvSpPr>
          <p:cNvPr id="12" name="Oval 11"/>
          <p:cNvSpPr/>
          <p:nvPr/>
        </p:nvSpPr>
        <p:spPr>
          <a:xfrm>
            <a:off x="533400" y="2400300"/>
            <a:ext cx="292100" cy="292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400" y="2438400"/>
            <a:ext cx="292100" cy="165100"/>
          </a:xfrm>
          <a:prstGeom prst="rect">
            <a:avLst/>
          </a:prstGeom>
          <a:noFill/>
        </p:spPr>
        <p:txBody>
          <a:bodyPr wrap="square" lIns="0" rIns="0" tIns="0" bIns="0" anchor="t">
            <a:spAutoFit/>
          </a:bodyPr>
          <a:lstStyle/>
          <a:p>
            <a:pPr algn="ctr">
              <a:spcAft>
                <a:spcPts val="200"/>
              </a:spcAft>
              <a:defRPr sz="1000" b="1">
                <a:solidFill>
                  <a:srgbClr val="FFFFFF"/>
                </a:solidFill>
                <a:latin typeface="Segoe UI"/>
              </a:defRPr>
            </a:pPr>
            <a:r>
              <a:t>✓</a:t>
            </a:r>
          </a:p>
        </p:txBody>
      </p:sp>
      <p:sp>
        <p:nvSpPr>
          <p:cNvPr id="14" name="TextBox 13"/>
          <p:cNvSpPr txBox="1"/>
          <p:nvPr/>
        </p:nvSpPr>
        <p:spPr>
          <a:xfrm>
            <a:off x="1016000" y="2387600"/>
            <a:ext cx="4572000" cy="3429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открытие системного окна</a:t>
            </a:r>
          </a:p>
        </p:txBody>
      </p:sp>
      <p:sp>
        <p:nvSpPr>
          <p:cNvPr id="15" name="Oval 14"/>
          <p:cNvSpPr/>
          <p:nvPr/>
        </p:nvSpPr>
        <p:spPr>
          <a:xfrm>
            <a:off x="533400" y="3009900"/>
            <a:ext cx="292100" cy="292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3048000"/>
            <a:ext cx="292100" cy="165100"/>
          </a:xfrm>
          <a:prstGeom prst="rect">
            <a:avLst/>
          </a:prstGeom>
          <a:noFill/>
        </p:spPr>
        <p:txBody>
          <a:bodyPr wrap="square" lIns="0" rIns="0" tIns="0" bIns="0" anchor="t">
            <a:spAutoFit/>
          </a:bodyPr>
          <a:lstStyle/>
          <a:p>
            <a:pPr algn="ctr">
              <a:spcAft>
                <a:spcPts val="200"/>
              </a:spcAft>
              <a:defRPr sz="1000" b="1">
                <a:solidFill>
                  <a:srgbClr val="FFFFFF"/>
                </a:solidFill>
                <a:latin typeface="Segoe UI"/>
              </a:defRPr>
            </a:pPr>
            <a:r>
              <a:t>✓</a:t>
            </a:r>
          </a:p>
        </p:txBody>
      </p:sp>
      <p:sp>
        <p:nvSpPr>
          <p:cNvPr id="17" name="TextBox 16"/>
          <p:cNvSpPr txBox="1"/>
          <p:nvPr/>
        </p:nvSpPr>
        <p:spPr>
          <a:xfrm>
            <a:off x="1016000" y="2997200"/>
            <a:ext cx="4572000" cy="3429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выбор MP4-файла</a:t>
            </a:r>
          </a:p>
        </p:txBody>
      </p:sp>
      <p:sp>
        <p:nvSpPr>
          <p:cNvPr id="18" name="Oval 17"/>
          <p:cNvSpPr/>
          <p:nvPr/>
        </p:nvSpPr>
        <p:spPr>
          <a:xfrm>
            <a:off x="533400" y="3619500"/>
            <a:ext cx="292100" cy="292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3400" y="3657600"/>
            <a:ext cx="292100" cy="165100"/>
          </a:xfrm>
          <a:prstGeom prst="rect">
            <a:avLst/>
          </a:prstGeom>
          <a:noFill/>
        </p:spPr>
        <p:txBody>
          <a:bodyPr wrap="square" lIns="0" rIns="0" tIns="0" bIns="0" anchor="t">
            <a:spAutoFit/>
          </a:bodyPr>
          <a:lstStyle/>
          <a:p>
            <a:pPr algn="ctr">
              <a:spcAft>
                <a:spcPts val="200"/>
              </a:spcAft>
              <a:defRPr sz="1000" b="1">
                <a:solidFill>
                  <a:srgbClr val="FFFFFF"/>
                </a:solidFill>
                <a:latin typeface="Segoe UI"/>
              </a:defRPr>
            </a:pPr>
            <a:r>
              <a:t>✓</a:t>
            </a:r>
          </a:p>
        </p:txBody>
      </p:sp>
      <p:sp>
        <p:nvSpPr>
          <p:cNvPr id="20" name="TextBox 19"/>
          <p:cNvSpPr txBox="1"/>
          <p:nvPr/>
        </p:nvSpPr>
        <p:spPr>
          <a:xfrm>
            <a:off x="1016000" y="3606800"/>
            <a:ext cx="4572000" cy="3429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отмена без создания урока</a:t>
            </a:r>
          </a:p>
        </p:txBody>
      </p:sp>
      <p:sp>
        <p:nvSpPr>
          <p:cNvPr id="21" name="Oval 20"/>
          <p:cNvSpPr/>
          <p:nvPr/>
        </p:nvSpPr>
        <p:spPr>
          <a:xfrm>
            <a:off x="533400" y="4229100"/>
            <a:ext cx="292100" cy="292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3400" y="4267200"/>
            <a:ext cx="292100" cy="165100"/>
          </a:xfrm>
          <a:prstGeom prst="rect">
            <a:avLst/>
          </a:prstGeom>
          <a:noFill/>
        </p:spPr>
        <p:txBody>
          <a:bodyPr wrap="square" lIns="0" rIns="0" tIns="0" bIns="0" anchor="t">
            <a:spAutoFit/>
          </a:bodyPr>
          <a:lstStyle/>
          <a:p>
            <a:pPr algn="ctr">
              <a:spcAft>
                <a:spcPts val="200"/>
              </a:spcAft>
              <a:defRPr sz="1000" b="1">
                <a:solidFill>
                  <a:srgbClr val="FFFFFF"/>
                </a:solidFill>
                <a:latin typeface="Segoe UI"/>
              </a:defRPr>
            </a:pPr>
            <a:r>
              <a:t>✓</a:t>
            </a:r>
          </a:p>
        </p:txBody>
      </p:sp>
      <p:sp>
        <p:nvSpPr>
          <p:cNvPr id="23" name="TextBox 22"/>
          <p:cNvSpPr txBox="1"/>
          <p:nvPr/>
        </p:nvSpPr>
        <p:spPr>
          <a:xfrm>
            <a:off x="1016000" y="4216400"/>
            <a:ext cx="4572000" cy="3429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автоматический запуск загрузки</a:t>
            </a:r>
          </a:p>
        </p:txBody>
      </p:sp>
      <p:sp>
        <p:nvSpPr>
          <p:cNvPr id="24" name="Oval 23"/>
          <p:cNvSpPr/>
          <p:nvPr/>
        </p:nvSpPr>
        <p:spPr>
          <a:xfrm>
            <a:off x="533400" y="4838700"/>
            <a:ext cx="292100" cy="292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3400" y="4876800"/>
            <a:ext cx="292100" cy="165100"/>
          </a:xfrm>
          <a:prstGeom prst="rect">
            <a:avLst/>
          </a:prstGeom>
          <a:noFill/>
        </p:spPr>
        <p:txBody>
          <a:bodyPr wrap="square" lIns="0" rIns="0" tIns="0" bIns="0" anchor="t">
            <a:spAutoFit/>
          </a:bodyPr>
          <a:lstStyle/>
          <a:p>
            <a:pPr algn="ctr">
              <a:spcAft>
                <a:spcPts val="200"/>
              </a:spcAft>
              <a:defRPr sz="1000" b="1">
                <a:solidFill>
                  <a:srgbClr val="FFFFFF"/>
                </a:solidFill>
                <a:latin typeface="Segoe UI"/>
              </a:defRPr>
            </a:pPr>
            <a:r>
              <a:t>✓</a:t>
            </a:r>
          </a:p>
        </p:txBody>
      </p:sp>
      <p:sp>
        <p:nvSpPr>
          <p:cNvPr id="26" name="TextBox 25"/>
          <p:cNvSpPr txBox="1"/>
          <p:nvPr/>
        </p:nvSpPr>
        <p:spPr>
          <a:xfrm>
            <a:off x="1016000" y="4826000"/>
            <a:ext cx="4572000" cy="3429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не нужно вводить ссылку вручную</a:t>
            </a:r>
          </a:p>
        </p:txBody>
      </p:sp>
      <p:sp>
        <p:nvSpPr>
          <p:cNvPr id="27" name="Rectangle 26"/>
          <p:cNvSpPr/>
          <p:nvPr/>
        </p:nvSpPr>
        <p:spPr>
          <a:xfrm>
            <a:off x="533400" y="5562600"/>
            <a:ext cx="5003800" cy="469900"/>
          </a:xfrm>
          <a:prstGeom prst="rect">
            <a:avLst/>
          </a:prstGeom>
          <a:solidFill>
            <a:srgbClr val="F4E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1200" y="5689600"/>
            <a:ext cx="4635500" cy="228600"/>
          </a:xfrm>
          <a:prstGeom prst="rect">
            <a:avLst/>
          </a:prstGeom>
          <a:noFill/>
        </p:spPr>
        <p:txBody>
          <a:bodyPr wrap="square" lIns="0" rIns="0" tIns="0" bIns="0" anchor="t">
            <a:spAutoFit/>
          </a:bodyPr>
          <a:lstStyle/>
          <a:p>
            <a:pPr algn="ctr">
              <a:spcAft>
                <a:spcPts val="200"/>
              </a:spcAft>
              <a:defRPr sz="1200" b="1">
                <a:solidFill>
                  <a:srgbClr val="18313F"/>
                </a:solidFill>
                <a:latin typeface="Segoe UI"/>
              </a:defRPr>
            </a:pPr>
            <a:r>
              <a:t>Результат: выбор файла работает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ЗАГРУЗКА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08</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Что происходит во время загрузки</a:t>
            </a:r>
          </a:p>
        </p:txBody>
      </p:sp>
      <p:sp>
        <p:nvSpPr>
          <p:cNvPr id="9" name="Rectangle 8"/>
          <p:cNvSpPr/>
          <p:nvPr/>
        </p:nvSpPr>
        <p:spPr>
          <a:xfrm>
            <a:off x="533400" y="1625600"/>
            <a:ext cx="6908800" cy="3937000"/>
          </a:xfrm>
          <a:prstGeom prst="rect">
            <a:avLst/>
          </a:prstGeom>
          <a:solidFill>
            <a:srgbClr val="121A1D"/>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004683" y="1701800"/>
            <a:ext cx="5966232" cy="3784600"/>
          </a:xfrm>
          <a:prstGeom prst="rect">
            <a:avLst/>
          </a:prstGeom>
        </p:spPr>
      </p:pic>
      <p:sp>
        <p:nvSpPr>
          <p:cNvPr id="11" name="TextBox 10"/>
          <p:cNvSpPr txBox="1"/>
          <p:nvPr/>
        </p:nvSpPr>
        <p:spPr>
          <a:xfrm>
            <a:off x="8153400" y="1841500"/>
            <a:ext cx="3111500" cy="711200"/>
          </a:xfrm>
          <a:prstGeom prst="rect">
            <a:avLst/>
          </a:prstGeom>
          <a:noFill/>
        </p:spPr>
        <p:txBody>
          <a:bodyPr wrap="square" lIns="0" rIns="0" tIns="0" bIns="0" anchor="t">
            <a:spAutoFit/>
          </a:bodyPr>
          <a:lstStyle/>
          <a:p>
            <a:pPr algn="ctr">
              <a:spcAft>
                <a:spcPts val="200"/>
              </a:spcAft>
              <a:defRPr sz="3300" b="1">
                <a:solidFill>
                  <a:srgbClr val="2F7375"/>
                </a:solidFill>
                <a:latin typeface="Georgia"/>
              </a:defRPr>
            </a:pPr>
            <a:r>
              <a:t>0—100%</a:t>
            </a:r>
          </a:p>
        </p:txBody>
      </p:sp>
      <p:sp>
        <p:nvSpPr>
          <p:cNvPr id="12" name="TextBox 11"/>
          <p:cNvSpPr txBox="1"/>
          <p:nvPr/>
        </p:nvSpPr>
        <p:spPr>
          <a:xfrm>
            <a:off x="8153400" y="2641600"/>
            <a:ext cx="3111500" cy="2921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непрерывное обновление</a:t>
            </a:r>
          </a:p>
        </p:txBody>
      </p:sp>
      <p:cxnSp>
        <p:nvCxnSpPr>
          <p:cNvPr id="13" name="Connector 12"/>
          <p:cNvCxnSpPr/>
          <p:nvPr/>
        </p:nvCxnSpPr>
        <p:spPr>
          <a:xfrm>
            <a:off x="8013700" y="3263900"/>
            <a:ext cx="3378200" cy="0"/>
          </a:xfrm>
          <a:prstGeom prst="line">
            <a:avLst/>
          </a:prstGeom>
          <a:ln w="15875">
            <a:solidFill>
              <a:srgbClr val="D7D0C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53400" y="3581400"/>
            <a:ext cx="3111500" cy="508000"/>
          </a:xfrm>
          <a:prstGeom prst="rect">
            <a:avLst/>
          </a:prstGeom>
          <a:noFill/>
        </p:spPr>
        <p:txBody>
          <a:bodyPr wrap="square" lIns="0" rIns="0" tIns="0" bIns="0" anchor="t">
            <a:spAutoFit/>
          </a:bodyPr>
          <a:lstStyle/>
          <a:p>
            <a:pPr algn="ctr">
              <a:spcAft>
                <a:spcPts val="200"/>
              </a:spcAft>
              <a:defRPr sz="2400" b="1">
                <a:solidFill>
                  <a:srgbClr val="D3A13B"/>
                </a:solidFill>
                <a:latin typeface="Georgia"/>
              </a:defRPr>
            </a:pPr>
            <a:r>
              <a:t>до 4 попыток</a:t>
            </a:r>
          </a:p>
        </p:txBody>
      </p:sp>
      <p:sp>
        <p:nvSpPr>
          <p:cNvPr id="15" name="TextBox 14"/>
          <p:cNvSpPr txBox="1"/>
          <p:nvPr/>
        </p:nvSpPr>
        <p:spPr>
          <a:xfrm>
            <a:off x="8153400" y="4216400"/>
            <a:ext cx="3111500" cy="5334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если временно пропал интернет</a:t>
            </a:r>
          </a:p>
        </p:txBody>
      </p:sp>
      <p:sp>
        <p:nvSpPr>
          <p:cNvPr id="16" name="Rectangle 15"/>
          <p:cNvSpPr/>
          <p:nvPr/>
        </p:nvSpPr>
        <p:spPr>
          <a:xfrm>
            <a:off x="7950200" y="5067300"/>
            <a:ext cx="3505200" cy="647700"/>
          </a:xfrm>
          <a:prstGeom prst="rect">
            <a:avLst/>
          </a:prstGeom>
          <a:solidFill>
            <a:srgbClr val="DCE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1500" y="5207000"/>
            <a:ext cx="3022600" cy="393700"/>
          </a:xfrm>
          <a:prstGeom prst="rect">
            <a:avLst/>
          </a:prstGeom>
          <a:noFill/>
        </p:spPr>
        <p:txBody>
          <a:bodyPr wrap="square" lIns="0" rIns="0" tIns="0" bIns="0" anchor="t">
            <a:spAutoFit/>
          </a:bodyPr>
          <a:lstStyle/>
          <a:p>
            <a:pPr algn="ctr">
              <a:spcAft>
                <a:spcPts val="200"/>
              </a:spcAft>
              <a:defRPr sz="1300" b="1">
                <a:solidFill>
                  <a:srgbClr val="18313F"/>
                </a:solidFill>
                <a:latin typeface="Segoe UI"/>
              </a:defRPr>
            </a:pPr>
            <a:r>
              <a:t>Окно загрузки не зависает навсегда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РАЗМЕР ФАЙЛА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09</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Как загружаются небольшие и большие видео</a:t>
            </a:r>
          </a:p>
        </p:txBody>
      </p:sp>
      <p:sp>
        <p:nvSpPr>
          <p:cNvPr id="9" name="TextBox 8"/>
          <p:cNvSpPr txBox="1"/>
          <p:nvPr/>
        </p:nvSpPr>
        <p:spPr>
          <a:xfrm>
            <a:off x="4851400" y="1701800"/>
            <a:ext cx="2489200" cy="939800"/>
          </a:xfrm>
          <a:prstGeom prst="rect">
            <a:avLst/>
          </a:prstGeom>
          <a:noFill/>
        </p:spPr>
        <p:txBody>
          <a:bodyPr wrap="square" lIns="0" rIns="0" tIns="0" bIns="0" anchor="t">
            <a:spAutoFit/>
          </a:bodyPr>
          <a:lstStyle/>
          <a:p>
            <a:pPr algn="ctr">
              <a:spcAft>
                <a:spcPts val="200"/>
              </a:spcAft>
              <a:defRPr sz="4200" b="1">
                <a:solidFill>
                  <a:srgbClr val="D3A13B"/>
                </a:solidFill>
                <a:latin typeface="Georgia"/>
              </a:defRPr>
            </a:pPr>
            <a:r>
              <a:t>95 МБ</a:t>
            </a:r>
          </a:p>
        </p:txBody>
      </p:sp>
      <p:cxnSp>
        <p:nvCxnSpPr>
          <p:cNvPr id="10" name="Connector 9"/>
          <p:cNvCxnSpPr/>
          <p:nvPr/>
        </p:nvCxnSpPr>
        <p:spPr>
          <a:xfrm>
            <a:off x="1333500" y="3022600"/>
            <a:ext cx="9525000" cy="0"/>
          </a:xfrm>
          <a:prstGeom prst="line">
            <a:avLst/>
          </a:prstGeom>
          <a:ln w="38100">
            <a:solidFill>
              <a:srgbClr val="18313F"/>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918200" y="2870200"/>
            <a:ext cx="304800" cy="3048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68700"/>
            <a:ext cx="4191000" cy="304800"/>
          </a:xfrm>
          <a:prstGeom prst="rect">
            <a:avLst/>
          </a:prstGeom>
          <a:noFill/>
        </p:spPr>
        <p:txBody>
          <a:bodyPr wrap="square" lIns="0" rIns="0" tIns="0" bIns="0" anchor="t">
            <a:spAutoFit/>
          </a:bodyPr>
          <a:lstStyle/>
          <a:p>
            <a:pPr algn="ctr">
              <a:spcAft>
                <a:spcPts val="200"/>
              </a:spcAft>
              <a:defRPr sz="1400" b="1">
                <a:solidFill>
                  <a:srgbClr val="2F7375"/>
                </a:solidFill>
                <a:latin typeface="Segoe UI"/>
              </a:defRPr>
            </a:pPr>
            <a:r>
              <a:t>ДО 95 МБ</a:t>
            </a:r>
          </a:p>
        </p:txBody>
      </p:sp>
      <p:sp>
        <p:nvSpPr>
          <p:cNvPr id="13" name="TextBox 12"/>
          <p:cNvSpPr txBox="1"/>
          <p:nvPr/>
        </p:nvSpPr>
        <p:spPr>
          <a:xfrm>
            <a:off x="914400" y="4140200"/>
            <a:ext cx="4191000" cy="952500"/>
          </a:xfrm>
          <a:prstGeom prst="rect">
            <a:avLst/>
          </a:prstGeom>
          <a:noFill/>
        </p:spPr>
        <p:txBody>
          <a:bodyPr wrap="square" lIns="0" rIns="0" tIns="0" bIns="0" anchor="t">
            <a:spAutoFit/>
          </a:bodyPr>
          <a:lstStyle/>
          <a:p>
            <a:pPr algn="ctr">
              <a:spcAft>
                <a:spcPts val="200"/>
              </a:spcAft>
              <a:defRPr sz="1700" b="0">
                <a:solidFill>
                  <a:srgbClr val="18313F"/>
                </a:solidFill>
                <a:latin typeface="Segoe UI"/>
              </a:defRPr>
            </a:pPr>
            <a:r>
              <a:t>Небольшое видео отправляется целиком. Во время передачи показывается процент загрузки.</a:t>
            </a:r>
          </a:p>
        </p:txBody>
      </p:sp>
      <p:sp>
        <p:nvSpPr>
          <p:cNvPr id="14" name="TextBox 13"/>
          <p:cNvSpPr txBox="1"/>
          <p:nvPr/>
        </p:nvSpPr>
        <p:spPr>
          <a:xfrm>
            <a:off x="7086600" y="3568700"/>
            <a:ext cx="4191000" cy="304800"/>
          </a:xfrm>
          <a:prstGeom prst="rect">
            <a:avLst/>
          </a:prstGeom>
          <a:noFill/>
        </p:spPr>
        <p:txBody>
          <a:bodyPr wrap="square" lIns="0" rIns="0" tIns="0" bIns="0" anchor="t">
            <a:spAutoFit/>
          </a:bodyPr>
          <a:lstStyle/>
          <a:p>
            <a:pPr algn="ctr">
              <a:spcAft>
                <a:spcPts val="200"/>
              </a:spcAft>
              <a:defRPr sz="1400" b="1">
                <a:solidFill>
                  <a:srgbClr val="B95F4B"/>
                </a:solidFill>
                <a:latin typeface="Segoe UI"/>
              </a:defRPr>
            </a:pPr>
            <a:r>
              <a:t>БОЛЕЕ 95 МБ</a:t>
            </a:r>
          </a:p>
        </p:txBody>
      </p:sp>
      <p:sp>
        <p:nvSpPr>
          <p:cNvPr id="15" name="TextBox 14"/>
          <p:cNvSpPr txBox="1"/>
          <p:nvPr/>
        </p:nvSpPr>
        <p:spPr>
          <a:xfrm>
            <a:off x="7086600" y="4140200"/>
            <a:ext cx="4191000" cy="952500"/>
          </a:xfrm>
          <a:prstGeom prst="rect">
            <a:avLst/>
          </a:prstGeom>
          <a:noFill/>
        </p:spPr>
        <p:txBody>
          <a:bodyPr wrap="square" lIns="0" rIns="0" tIns="0" bIns="0" anchor="t">
            <a:spAutoFit/>
          </a:bodyPr>
          <a:lstStyle/>
          <a:p>
            <a:pPr algn="ctr">
              <a:spcAft>
                <a:spcPts val="200"/>
              </a:spcAft>
              <a:defRPr sz="1700" b="0">
                <a:solidFill>
                  <a:srgbClr val="18313F"/>
                </a:solidFill>
                <a:latin typeface="Segoe UI"/>
              </a:defRPr>
            </a:pPr>
            <a:r>
              <a:t>Большое видео делится на части примерно по 8 МБ. Части отправляются по очереди.</a:t>
            </a:r>
          </a:p>
        </p:txBody>
      </p:sp>
      <p:sp>
        <p:nvSpPr>
          <p:cNvPr id="16" name="TextBox 15"/>
          <p:cNvSpPr txBox="1"/>
          <p:nvPr/>
        </p:nvSpPr>
        <p:spPr>
          <a:xfrm>
            <a:off x="2032000" y="5562600"/>
            <a:ext cx="8128000" cy="571500"/>
          </a:xfrm>
          <a:prstGeom prst="rect">
            <a:avLst/>
          </a:prstGeom>
          <a:noFill/>
        </p:spPr>
        <p:txBody>
          <a:bodyPr wrap="square" lIns="0" rIns="0" tIns="0" bIns="0" anchor="t">
            <a:spAutoFit/>
          </a:bodyPr>
          <a:lstStyle/>
          <a:p>
            <a:pPr algn="ctr">
              <a:spcAft>
                <a:spcPts val="200"/>
              </a:spcAft>
              <a:defRPr sz="1700" b="1">
                <a:solidFill>
                  <a:srgbClr val="18313F"/>
                </a:solidFill>
                <a:latin typeface="Georgia"/>
              </a:defRPr>
            </a:pPr>
            <a:r>
              <a:t>Большое видео обрабатывается по частям, поэтому приложение не зависает.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СОХРАНЕНИЕ</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10</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Какие данные сохраняются после загрузки</a:t>
            </a:r>
          </a:p>
        </p:txBody>
      </p:sp>
      <p:sp>
        <p:nvSpPr>
          <p:cNvPr id="9" name="Rectangle 8"/>
          <p:cNvSpPr/>
          <p:nvPr/>
        </p:nvSpPr>
        <p:spPr>
          <a:xfrm>
            <a:off x="4038600" y="1600200"/>
            <a:ext cx="7493000" cy="3810000"/>
          </a:xfrm>
          <a:prstGeom prst="rect">
            <a:avLst/>
          </a:prstGeom>
          <a:solidFill>
            <a:srgbClr val="121A1D"/>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4102100" y="2097776"/>
            <a:ext cx="7366000" cy="2814847"/>
          </a:xfrm>
          <a:prstGeom prst="rect">
            <a:avLst/>
          </a:prstGeom>
        </p:spPr>
      </p:pic>
      <p:sp>
        <p:nvSpPr>
          <p:cNvPr id="11" name="TextBox 10"/>
          <p:cNvSpPr txBox="1"/>
          <p:nvPr/>
        </p:nvSpPr>
        <p:spPr>
          <a:xfrm>
            <a:off x="533400" y="1879600"/>
            <a:ext cx="2921000" cy="317500"/>
          </a:xfrm>
          <a:prstGeom prst="rect">
            <a:avLst/>
          </a:prstGeom>
          <a:noFill/>
        </p:spPr>
        <p:txBody>
          <a:bodyPr wrap="square" lIns="0" rIns="0" tIns="0" bIns="0" anchor="t">
            <a:spAutoFit/>
          </a:bodyPr>
          <a:lstStyle/>
          <a:p>
            <a:pPr algn="l">
              <a:spcAft>
                <a:spcPts val="200"/>
              </a:spcAft>
              <a:defRPr sz="1500" b="1">
                <a:solidFill>
                  <a:srgbClr val="B95F4B"/>
                </a:solidFill>
                <a:latin typeface="Segoe UI"/>
              </a:defRPr>
            </a:pPr>
            <a:r>
              <a:t>В БАЗЕ ОСТАЮТСЯ</a:t>
            </a:r>
          </a:p>
        </p:txBody>
      </p:sp>
      <p:sp>
        <p:nvSpPr>
          <p:cNvPr id="12" name="TextBox 11"/>
          <p:cNvSpPr txBox="1"/>
          <p:nvPr/>
        </p:nvSpPr>
        <p:spPr>
          <a:xfrm>
            <a:off x="533400" y="24765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13" name="TextBox 12"/>
          <p:cNvSpPr txBox="1"/>
          <p:nvPr/>
        </p:nvSpPr>
        <p:spPr>
          <a:xfrm>
            <a:off x="889000" y="24765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ссылка на видео</a:t>
            </a:r>
          </a:p>
        </p:txBody>
      </p:sp>
      <p:sp>
        <p:nvSpPr>
          <p:cNvPr id="14" name="TextBox 13"/>
          <p:cNvSpPr txBox="1"/>
          <p:nvPr/>
        </p:nvSpPr>
        <p:spPr>
          <a:xfrm>
            <a:off x="533400" y="29718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15" name="TextBox 14"/>
          <p:cNvSpPr txBox="1"/>
          <p:nvPr/>
        </p:nvSpPr>
        <p:spPr>
          <a:xfrm>
            <a:off x="889000" y="29718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номер файла в хранилище</a:t>
            </a:r>
          </a:p>
        </p:txBody>
      </p:sp>
      <p:sp>
        <p:nvSpPr>
          <p:cNvPr id="16" name="TextBox 15"/>
          <p:cNvSpPr txBox="1"/>
          <p:nvPr/>
        </p:nvSpPr>
        <p:spPr>
          <a:xfrm>
            <a:off x="533400" y="34671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17" name="TextBox 16"/>
          <p:cNvSpPr txBox="1"/>
          <p:nvPr/>
        </p:nvSpPr>
        <p:spPr>
          <a:xfrm>
            <a:off x="889000" y="34671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имя файла</a:t>
            </a:r>
          </a:p>
        </p:txBody>
      </p:sp>
      <p:sp>
        <p:nvSpPr>
          <p:cNvPr id="18" name="TextBox 17"/>
          <p:cNvSpPr txBox="1"/>
          <p:nvPr/>
        </p:nvSpPr>
        <p:spPr>
          <a:xfrm>
            <a:off x="533400" y="39624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19" name="TextBox 18"/>
          <p:cNvSpPr txBox="1"/>
          <p:nvPr/>
        </p:nvSpPr>
        <p:spPr>
          <a:xfrm>
            <a:off x="889000" y="39624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размер</a:t>
            </a:r>
          </a:p>
        </p:txBody>
      </p:sp>
      <p:sp>
        <p:nvSpPr>
          <p:cNvPr id="20" name="TextBox 19"/>
          <p:cNvSpPr txBox="1"/>
          <p:nvPr/>
        </p:nvSpPr>
        <p:spPr>
          <a:xfrm>
            <a:off x="533400" y="44577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21" name="TextBox 20"/>
          <p:cNvSpPr txBox="1"/>
          <p:nvPr/>
        </p:nvSpPr>
        <p:spPr>
          <a:xfrm>
            <a:off x="889000" y="44577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формат</a:t>
            </a:r>
          </a:p>
        </p:txBody>
      </p:sp>
      <p:sp>
        <p:nvSpPr>
          <p:cNvPr id="22" name="TextBox 21"/>
          <p:cNvSpPr txBox="1"/>
          <p:nvPr/>
        </p:nvSpPr>
        <p:spPr>
          <a:xfrm>
            <a:off x="533400" y="4953000"/>
            <a:ext cx="254000" cy="279400"/>
          </a:xfrm>
          <a:prstGeom prst="rect">
            <a:avLst/>
          </a:prstGeom>
          <a:noFill/>
        </p:spPr>
        <p:txBody>
          <a:bodyPr wrap="square" lIns="0" rIns="0" tIns="0" bIns="0" anchor="t">
            <a:spAutoFit/>
          </a:bodyPr>
          <a:lstStyle/>
          <a:p>
            <a:pPr algn="l">
              <a:spcAft>
                <a:spcPts val="200"/>
              </a:spcAft>
              <a:defRPr sz="1400" b="1">
                <a:solidFill>
                  <a:srgbClr val="D3A13B"/>
                </a:solidFill>
                <a:latin typeface="Segoe UI"/>
              </a:defRPr>
            </a:pPr>
            <a:r>
              <a:t>—</a:t>
            </a:r>
          </a:p>
        </p:txBody>
      </p:sp>
      <p:sp>
        <p:nvSpPr>
          <p:cNvPr id="23" name="TextBox 22"/>
          <p:cNvSpPr txBox="1"/>
          <p:nvPr/>
        </p:nvSpPr>
        <p:spPr>
          <a:xfrm>
            <a:off x="889000" y="4953000"/>
            <a:ext cx="2667000" cy="2794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длительность</a:t>
            </a:r>
          </a:p>
        </p:txBody>
      </p:sp>
      <p:sp>
        <p:nvSpPr>
          <p:cNvPr id="24" name="TextBox 23"/>
          <p:cNvSpPr txBox="1"/>
          <p:nvPr/>
        </p:nvSpPr>
        <p:spPr>
          <a:xfrm>
            <a:off x="4038600" y="5702300"/>
            <a:ext cx="7493000" cy="330200"/>
          </a:xfrm>
          <a:prstGeom prst="rect">
            <a:avLst/>
          </a:prstGeom>
          <a:noFill/>
        </p:spPr>
        <p:txBody>
          <a:bodyPr wrap="square" lIns="0" rIns="0" tIns="0" bIns="0" anchor="t">
            <a:spAutoFit/>
          </a:bodyPr>
          <a:lstStyle/>
          <a:p>
            <a:pPr algn="ctr">
              <a:spcAft>
                <a:spcPts val="200"/>
              </a:spcAft>
              <a:defRPr sz="1400" b="1">
                <a:solidFill>
                  <a:srgbClr val="2E7D5B"/>
                </a:solidFill>
                <a:latin typeface="Segoe UI"/>
              </a:defRPr>
            </a:pPr>
            <a:r>
              <a:t>Сохранённые данные совпадают с выбранным файлом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ПРОСМОТР</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11</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Проверка видеоплеера</a:t>
            </a:r>
          </a:p>
        </p:txBody>
      </p:sp>
      <p:sp>
        <p:nvSpPr>
          <p:cNvPr id="9" name="Rectangle 8"/>
          <p:cNvSpPr/>
          <p:nvPr/>
        </p:nvSpPr>
        <p:spPr>
          <a:xfrm>
            <a:off x="5956300" y="1409700"/>
            <a:ext cx="5575300" cy="4470400"/>
          </a:xfrm>
          <a:prstGeom prst="rect">
            <a:avLst/>
          </a:prstGeom>
          <a:solidFill>
            <a:srgbClr val="121A1D"/>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577092" y="1473200"/>
            <a:ext cx="4333715" cy="4343400"/>
          </a:xfrm>
          <a:prstGeom prst="rect">
            <a:avLst/>
          </a:prstGeom>
        </p:spPr>
      </p:pic>
      <p:sp>
        <p:nvSpPr>
          <p:cNvPr id="11" name="TextBox 10"/>
          <p:cNvSpPr txBox="1"/>
          <p:nvPr/>
        </p:nvSpPr>
        <p:spPr>
          <a:xfrm>
            <a:off x="533400" y="1943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01</a:t>
            </a:r>
          </a:p>
        </p:txBody>
      </p:sp>
      <p:sp>
        <p:nvSpPr>
          <p:cNvPr id="12" name="TextBox 11"/>
          <p:cNvSpPr txBox="1"/>
          <p:nvPr/>
        </p:nvSpPr>
        <p:spPr>
          <a:xfrm>
            <a:off x="1066800" y="1943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Запуск</a:t>
            </a:r>
          </a:p>
        </p:txBody>
      </p:sp>
      <p:sp>
        <p:nvSpPr>
          <p:cNvPr id="13" name="TextBox 12"/>
          <p:cNvSpPr txBox="1"/>
          <p:nvPr/>
        </p:nvSpPr>
        <p:spPr>
          <a:xfrm>
            <a:off x="2921000" y="1943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02</a:t>
            </a:r>
          </a:p>
        </p:txBody>
      </p:sp>
      <p:sp>
        <p:nvSpPr>
          <p:cNvPr id="14" name="TextBox 13"/>
          <p:cNvSpPr txBox="1"/>
          <p:nvPr/>
        </p:nvSpPr>
        <p:spPr>
          <a:xfrm>
            <a:off x="3454400" y="1943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Пауза</a:t>
            </a:r>
          </a:p>
        </p:txBody>
      </p:sp>
      <p:sp>
        <p:nvSpPr>
          <p:cNvPr id="15" name="TextBox 14"/>
          <p:cNvSpPr txBox="1"/>
          <p:nvPr/>
        </p:nvSpPr>
        <p:spPr>
          <a:xfrm>
            <a:off x="533400" y="2959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03</a:t>
            </a:r>
          </a:p>
        </p:txBody>
      </p:sp>
      <p:sp>
        <p:nvSpPr>
          <p:cNvPr id="16" name="TextBox 15"/>
          <p:cNvSpPr txBox="1"/>
          <p:nvPr/>
        </p:nvSpPr>
        <p:spPr>
          <a:xfrm>
            <a:off x="1066800" y="2959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Перемотка</a:t>
            </a:r>
          </a:p>
        </p:txBody>
      </p:sp>
      <p:sp>
        <p:nvSpPr>
          <p:cNvPr id="17" name="TextBox 16"/>
          <p:cNvSpPr txBox="1"/>
          <p:nvPr/>
        </p:nvSpPr>
        <p:spPr>
          <a:xfrm>
            <a:off x="2921000" y="2959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04</a:t>
            </a:r>
          </a:p>
        </p:txBody>
      </p:sp>
      <p:sp>
        <p:nvSpPr>
          <p:cNvPr id="18" name="TextBox 17"/>
          <p:cNvSpPr txBox="1"/>
          <p:nvPr/>
        </p:nvSpPr>
        <p:spPr>
          <a:xfrm>
            <a:off x="3454400" y="2959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Повтор</a:t>
            </a:r>
          </a:p>
        </p:txBody>
      </p:sp>
      <p:sp>
        <p:nvSpPr>
          <p:cNvPr id="19" name="TextBox 18"/>
          <p:cNvSpPr txBox="1"/>
          <p:nvPr/>
        </p:nvSpPr>
        <p:spPr>
          <a:xfrm>
            <a:off x="533400" y="3975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05</a:t>
            </a:r>
          </a:p>
        </p:txBody>
      </p:sp>
      <p:sp>
        <p:nvSpPr>
          <p:cNvPr id="20" name="TextBox 19"/>
          <p:cNvSpPr txBox="1"/>
          <p:nvPr/>
        </p:nvSpPr>
        <p:spPr>
          <a:xfrm>
            <a:off x="1066800" y="3975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Скорость</a:t>
            </a:r>
          </a:p>
        </p:txBody>
      </p:sp>
      <p:sp>
        <p:nvSpPr>
          <p:cNvPr id="21" name="TextBox 20"/>
          <p:cNvSpPr txBox="1"/>
          <p:nvPr/>
        </p:nvSpPr>
        <p:spPr>
          <a:xfrm>
            <a:off x="2921000" y="3975100"/>
            <a:ext cx="431800" cy="292100"/>
          </a:xfrm>
          <a:prstGeom prst="rect">
            <a:avLst/>
          </a:prstGeom>
          <a:noFill/>
        </p:spPr>
        <p:txBody>
          <a:bodyPr wrap="square" lIns="0" rIns="0" tIns="0" bIns="0" anchor="t">
            <a:spAutoFit/>
          </a:bodyPr>
          <a:lstStyle/>
          <a:p>
            <a:pPr algn="l">
              <a:spcAft>
                <a:spcPts val="200"/>
              </a:spcAft>
              <a:defRPr sz="1300" b="1">
                <a:solidFill>
                  <a:srgbClr val="D3A13B"/>
                </a:solidFill>
                <a:latin typeface="Georgia"/>
              </a:defRPr>
            </a:pPr>
            <a:r>
              <a:t>06</a:t>
            </a:r>
          </a:p>
        </p:txBody>
      </p:sp>
      <p:sp>
        <p:nvSpPr>
          <p:cNvPr id="22" name="TextBox 21"/>
          <p:cNvSpPr txBox="1"/>
          <p:nvPr/>
        </p:nvSpPr>
        <p:spPr>
          <a:xfrm>
            <a:off x="3454400" y="3975100"/>
            <a:ext cx="1739900" cy="304800"/>
          </a:xfrm>
          <a:prstGeom prst="rect">
            <a:avLst/>
          </a:prstGeom>
          <a:noFill/>
        </p:spPr>
        <p:txBody>
          <a:bodyPr wrap="square" lIns="0" rIns="0" tIns="0" bIns="0" anchor="t">
            <a:spAutoFit/>
          </a:bodyPr>
          <a:lstStyle/>
          <a:p>
            <a:pPr algn="l">
              <a:spcAft>
                <a:spcPts val="200"/>
              </a:spcAft>
              <a:defRPr sz="1600" b="1">
                <a:solidFill>
                  <a:srgbClr val="18313F"/>
                </a:solidFill>
                <a:latin typeface="Segoe UI"/>
              </a:defRPr>
            </a:pPr>
            <a:r>
              <a:t>Закрытие</a:t>
            </a:r>
          </a:p>
        </p:txBody>
      </p:sp>
      <p:sp>
        <p:nvSpPr>
          <p:cNvPr id="23" name="Rectangle 22"/>
          <p:cNvSpPr/>
          <p:nvPr/>
        </p:nvSpPr>
        <p:spPr>
          <a:xfrm>
            <a:off x="533400" y="5092700"/>
            <a:ext cx="4648200" cy="723900"/>
          </a:xfrm>
          <a:prstGeom prst="rect">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7400" y="5257800"/>
            <a:ext cx="4140200" cy="419100"/>
          </a:xfrm>
          <a:prstGeom prst="rect">
            <a:avLst/>
          </a:prstGeom>
          <a:noFill/>
        </p:spPr>
        <p:txBody>
          <a:bodyPr wrap="square" lIns="0" rIns="0" tIns="0" bIns="0" anchor="t">
            <a:spAutoFit/>
          </a:bodyPr>
          <a:lstStyle/>
          <a:p>
            <a:pPr algn="ctr">
              <a:spcAft>
                <a:spcPts val="200"/>
              </a:spcAft>
              <a:defRPr sz="1400" b="1">
                <a:solidFill>
                  <a:srgbClr val="FFFFFF"/>
                </a:solidFill>
                <a:latin typeface="Segoe UI"/>
              </a:defRPr>
            </a:pPr>
            <a:r>
              <a:t>После закрытия урока видео останавливается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ПРОВЕРКА ВИДЕО · ОШИБКИ</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12</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Что происходит, если возникла ошибка</a:t>
            </a:r>
          </a:p>
        </p:txBody>
      </p:sp>
      <p:sp>
        <p:nvSpPr>
          <p:cNvPr id="9" name="TextBox 8"/>
          <p:cNvSpPr txBox="1"/>
          <p:nvPr/>
        </p:nvSpPr>
        <p:spPr>
          <a:xfrm>
            <a:off x="1219200" y="1778000"/>
            <a:ext cx="3302000" cy="215900"/>
          </a:xfrm>
          <a:prstGeom prst="rect">
            <a:avLst/>
          </a:prstGeom>
          <a:noFill/>
        </p:spPr>
        <p:txBody>
          <a:bodyPr wrap="square" lIns="0" rIns="0" tIns="0" bIns="0" anchor="t">
            <a:spAutoFit/>
          </a:bodyPr>
          <a:lstStyle/>
          <a:p>
            <a:pPr algn="l">
              <a:spcAft>
                <a:spcPts val="200"/>
              </a:spcAft>
              <a:defRPr sz="1000" b="1">
                <a:solidFill>
                  <a:srgbClr val="B95F4B"/>
                </a:solidFill>
                <a:latin typeface="Segoe UI"/>
              </a:defRPr>
            </a:pPr>
            <a:r>
              <a:t>ЧТО Я ДЕЛАЛ</a:t>
            </a:r>
          </a:p>
        </p:txBody>
      </p:sp>
      <p:sp>
        <p:nvSpPr>
          <p:cNvPr id="10" name="TextBox 9"/>
          <p:cNvSpPr txBox="1"/>
          <p:nvPr/>
        </p:nvSpPr>
        <p:spPr>
          <a:xfrm>
            <a:off x="4635500" y="1778000"/>
            <a:ext cx="4953000" cy="215900"/>
          </a:xfrm>
          <a:prstGeom prst="rect">
            <a:avLst/>
          </a:prstGeom>
          <a:noFill/>
        </p:spPr>
        <p:txBody>
          <a:bodyPr wrap="square" lIns="0" rIns="0" tIns="0" bIns="0" anchor="t">
            <a:spAutoFit/>
          </a:bodyPr>
          <a:lstStyle/>
          <a:p>
            <a:pPr algn="l">
              <a:spcAft>
                <a:spcPts val="200"/>
              </a:spcAft>
              <a:defRPr sz="1000" b="1">
                <a:solidFill>
                  <a:srgbClr val="B95F4B"/>
                </a:solidFill>
                <a:latin typeface="Segoe UI"/>
              </a:defRPr>
            </a:pPr>
            <a:r>
              <a:t>ЧТО ДОЛЖНО ПРОИЗОЙТИ</a:t>
            </a:r>
          </a:p>
        </p:txBody>
      </p:sp>
      <p:sp>
        <p:nvSpPr>
          <p:cNvPr id="11" name="TextBox 10"/>
          <p:cNvSpPr txBox="1"/>
          <p:nvPr/>
        </p:nvSpPr>
        <p:spPr>
          <a:xfrm>
            <a:off x="9969500" y="1778000"/>
            <a:ext cx="1460500" cy="215900"/>
          </a:xfrm>
          <a:prstGeom prst="rect">
            <a:avLst/>
          </a:prstGeom>
          <a:noFill/>
        </p:spPr>
        <p:txBody>
          <a:bodyPr wrap="square" lIns="0" rIns="0" tIns="0" bIns="0" anchor="t">
            <a:spAutoFit/>
          </a:bodyPr>
          <a:lstStyle/>
          <a:p>
            <a:pPr algn="r">
              <a:spcAft>
                <a:spcPts val="200"/>
              </a:spcAft>
              <a:defRPr sz="1000" b="1">
                <a:solidFill>
                  <a:srgbClr val="B95F4B"/>
                </a:solidFill>
                <a:latin typeface="Segoe UI"/>
              </a:defRPr>
            </a:pPr>
            <a:r>
              <a:t>СТАТУС</a:t>
            </a:r>
          </a:p>
        </p:txBody>
      </p:sp>
      <p:cxnSp>
        <p:nvCxnSpPr>
          <p:cNvPr id="12" name="Connector 11"/>
          <p:cNvCxnSpPr/>
          <p:nvPr/>
        </p:nvCxnSpPr>
        <p:spPr>
          <a:xfrm>
            <a:off x="660400" y="2692400"/>
            <a:ext cx="10871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5800" y="2209800"/>
            <a:ext cx="330200" cy="3302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47900"/>
            <a:ext cx="330200" cy="190500"/>
          </a:xfrm>
          <a:prstGeom prst="rect">
            <a:avLst/>
          </a:prstGeom>
          <a:noFill/>
        </p:spPr>
        <p:txBody>
          <a:bodyPr wrap="square" lIns="0" rIns="0" tIns="0" bIns="0" anchor="t">
            <a:spAutoFit/>
          </a:bodyPr>
          <a:lstStyle/>
          <a:p>
            <a:pPr algn="ctr">
              <a:spcAft>
                <a:spcPts val="0"/>
              </a:spcAft>
              <a:defRPr sz="1100" b="1">
                <a:solidFill>
                  <a:srgbClr val="FFFFFF"/>
                </a:solidFill>
                <a:latin typeface="Segoe UI"/>
              </a:defRPr>
            </a:pPr>
            <a:r>
              <a:t>✓</a:t>
            </a:r>
          </a:p>
        </p:txBody>
      </p:sp>
      <p:sp>
        <p:nvSpPr>
          <p:cNvPr id="15" name="TextBox 14"/>
          <p:cNvSpPr txBox="1"/>
          <p:nvPr/>
        </p:nvSpPr>
        <p:spPr>
          <a:xfrm>
            <a:off x="1219200" y="2209800"/>
            <a:ext cx="3302000" cy="3683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Отмена выбора</a:t>
            </a:r>
          </a:p>
        </p:txBody>
      </p:sp>
      <p:sp>
        <p:nvSpPr>
          <p:cNvPr id="16" name="TextBox 15"/>
          <p:cNvSpPr txBox="1"/>
          <p:nvPr/>
        </p:nvSpPr>
        <p:spPr>
          <a:xfrm>
            <a:off x="4635500" y="2197100"/>
            <a:ext cx="4953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Урок не создаётся, форма остаётся доступной</a:t>
            </a:r>
          </a:p>
        </p:txBody>
      </p:sp>
      <p:sp>
        <p:nvSpPr>
          <p:cNvPr id="17" name="TextBox 16"/>
          <p:cNvSpPr txBox="1"/>
          <p:nvPr/>
        </p:nvSpPr>
        <p:spPr>
          <a:xfrm>
            <a:off x="9969500" y="2235200"/>
            <a:ext cx="1460500" cy="254000"/>
          </a:xfrm>
          <a:prstGeom prst="rect">
            <a:avLst/>
          </a:prstGeom>
          <a:noFill/>
        </p:spPr>
        <p:txBody>
          <a:bodyPr wrap="square" lIns="0" rIns="0" tIns="0" bIns="0" anchor="t">
            <a:spAutoFit/>
          </a:bodyPr>
          <a:lstStyle/>
          <a:p>
            <a:pPr algn="r">
              <a:spcAft>
                <a:spcPts val="0"/>
              </a:spcAft>
              <a:defRPr sz="1000" b="1">
                <a:solidFill>
                  <a:srgbClr val="2E7D5B"/>
                </a:solidFill>
                <a:latin typeface="Segoe UI"/>
              </a:defRPr>
            </a:pPr>
            <a:r>
              <a:t>ПРОЙДЕН</a:t>
            </a:r>
          </a:p>
        </p:txBody>
      </p:sp>
      <p:cxnSp>
        <p:nvCxnSpPr>
          <p:cNvPr id="18" name="Connector 17"/>
          <p:cNvCxnSpPr/>
          <p:nvPr/>
        </p:nvCxnSpPr>
        <p:spPr>
          <a:xfrm>
            <a:off x="660400" y="3403600"/>
            <a:ext cx="10871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85800" y="2921000"/>
            <a:ext cx="330200" cy="3302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959100"/>
            <a:ext cx="330200" cy="190500"/>
          </a:xfrm>
          <a:prstGeom prst="rect">
            <a:avLst/>
          </a:prstGeom>
          <a:noFill/>
        </p:spPr>
        <p:txBody>
          <a:bodyPr wrap="square" lIns="0" rIns="0" tIns="0" bIns="0" anchor="t">
            <a:spAutoFit/>
          </a:bodyPr>
          <a:lstStyle/>
          <a:p>
            <a:pPr algn="ctr">
              <a:spcAft>
                <a:spcPts val="0"/>
              </a:spcAft>
              <a:defRPr sz="1100" b="1">
                <a:solidFill>
                  <a:srgbClr val="FFFFFF"/>
                </a:solidFill>
                <a:latin typeface="Segoe UI"/>
              </a:defRPr>
            </a:pPr>
            <a:r>
              <a:t>✓</a:t>
            </a:r>
          </a:p>
        </p:txBody>
      </p:sp>
      <p:sp>
        <p:nvSpPr>
          <p:cNvPr id="21" name="TextBox 20"/>
          <p:cNvSpPr txBox="1"/>
          <p:nvPr/>
        </p:nvSpPr>
        <p:spPr>
          <a:xfrm>
            <a:off x="1219200" y="2921000"/>
            <a:ext cx="3302000" cy="3683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Временный сбой сети</a:t>
            </a:r>
          </a:p>
        </p:txBody>
      </p:sp>
      <p:sp>
        <p:nvSpPr>
          <p:cNvPr id="22" name="TextBox 21"/>
          <p:cNvSpPr txBox="1"/>
          <p:nvPr/>
        </p:nvSpPr>
        <p:spPr>
          <a:xfrm>
            <a:off x="4635500" y="2908300"/>
            <a:ext cx="4953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Сообщение об ошибке и кнопка «Повторить»</a:t>
            </a:r>
          </a:p>
        </p:txBody>
      </p:sp>
      <p:sp>
        <p:nvSpPr>
          <p:cNvPr id="23" name="TextBox 22"/>
          <p:cNvSpPr txBox="1"/>
          <p:nvPr/>
        </p:nvSpPr>
        <p:spPr>
          <a:xfrm>
            <a:off x="9969500" y="2946400"/>
            <a:ext cx="1460500" cy="254000"/>
          </a:xfrm>
          <a:prstGeom prst="rect">
            <a:avLst/>
          </a:prstGeom>
          <a:noFill/>
        </p:spPr>
        <p:txBody>
          <a:bodyPr wrap="square" lIns="0" rIns="0" tIns="0" bIns="0" anchor="t">
            <a:spAutoFit/>
          </a:bodyPr>
          <a:lstStyle/>
          <a:p>
            <a:pPr algn="r">
              <a:spcAft>
                <a:spcPts val="0"/>
              </a:spcAft>
              <a:defRPr sz="1000" b="1">
                <a:solidFill>
                  <a:srgbClr val="2E7D5B"/>
                </a:solidFill>
                <a:latin typeface="Segoe UI"/>
              </a:defRPr>
            </a:pPr>
            <a:r>
              <a:t>ПРОЙДЕН</a:t>
            </a:r>
          </a:p>
        </p:txBody>
      </p:sp>
      <p:cxnSp>
        <p:nvCxnSpPr>
          <p:cNvPr id="24" name="Connector 23"/>
          <p:cNvCxnSpPr/>
          <p:nvPr/>
        </p:nvCxnSpPr>
        <p:spPr>
          <a:xfrm>
            <a:off x="660400" y="4114800"/>
            <a:ext cx="10871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85800" y="3632200"/>
            <a:ext cx="330200" cy="3302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670300"/>
            <a:ext cx="330200" cy="190500"/>
          </a:xfrm>
          <a:prstGeom prst="rect">
            <a:avLst/>
          </a:prstGeom>
          <a:noFill/>
        </p:spPr>
        <p:txBody>
          <a:bodyPr wrap="square" lIns="0" rIns="0" tIns="0" bIns="0" anchor="t">
            <a:spAutoFit/>
          </a:bodyPr>
          <a:lstStyle/>
          <a:p>
            <a:pPr algn="ctr">
              <a:spcAft>
                <a:spcPts val="0"/>
              </a:spcAft>
              <a:defRPr sz="1100" b="1">
                <a:solidFill>
                  <a:srgbClr val="FFFFFF"/>
                </a:solidFill>
                <a:latin typeface="Segoe UI"/>
              </a:defRPr>
            </a:pPr>
            <a:r>
              <a:t>✓</a:t>
            </a:r>
          </a:p>
        </p:txBody>
      </p:sp>
      <p:sp>
        <p:nvSpPr>
          <p:cNvPr id="27" name="TextBox 26"/>
          <p:cNvSpPr txBox="1"/>
          <p:nvPr/>
        </p:nvSpPr>
        <p:spPr>
          <a:xfrm>
            <a:off x="1219200" y="3632200"/>
            <a:ext cx="3302000" cy="3683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Неправильная ссылка</a:t>
            </a:r>
          </a:p>
        </p:txBody>
      </p:sp>
      <p:sp>
        <p:nvSpPr>
          <p:cNvPr id="28" name="TextBox 27"/>
          <p:cNvSpPr txBox="1"/>
          <p:nvPr/>
        </p:nvSpPr>
        <p:spPr>
          <a:xfrm>
            <a:off x="4635500" y="3619500"/>
            <a:ext cx="4953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Плеер показывает ошибку и предлагает повторить</a:t>
            </a:r>
          </a:p>
        </p:txBody>
      </p:sp>
      <p:sp>
        <p:nvSpPr>
          <p:cNvPr id="29" name="TextBox 28"/>
          <p:cNvSpPr txBox="1"/>
          <p:nvPr/>
        </p:nvSpPr>
        <p:spPr>
          <a:xfrm>
            <a:off x="9969500" y="3657600"/>
            <a:ext cx="1460500" cy="254000"/>
          </a:xfrm>
          <a:prstGeom prst="rect">
            <a:avLst/>
          </a:prstGeom>
          <a:noFill/>
        </p:spPr>
        <p:txBody>
          <a:bodyPr wrap="square" lIns="0" rIns="0" tIns="0" bIns="0" anchor="t">
            <a:spAutoFit/>
          </a:bodyPr>
          <a:lstStyle/>
          <a:p>
            <a:pPr algn="r">
              <a:spcAft>
                <a:spcPts val="0"/>
              </a:spcAft>
              <a:defRPr sz="1000" b="1">
                <a:solidFill>
                  <a:srgbClr val="2E7D5B"/>
                </a:solidFill>
                <a:latin typeface="Segoe UI"/>
              </a:defRPr>
            </a:pPr>
            <a:r>
              <a:t>ПРОЙДЕН</a:t>
            </a:r>
          </a:p>
        </p:txBody>
      </p:sp>
      <p:cxnSp>
        <p:nvCxnSpPr>
          <p:cNvPr id="30" name="Connector 29"/>
          <p:cNvCxnSpPr/>
          <p:nvPr/>
        </p:nvCxnSpPr>
        <p:spPr>
          <a:xfrm>
            <a:off x="660400" y="4826000"/>
            <a:ext cx="10871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85800" y="4343400"/>
            <a:ext cx="330200" cy="3302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381500"/>
            <a:ext cx="330200" cy="190500"/>
          </a:xfrm>
          <a:prstGeom prst="rect">
            <a:avLst/>
          </a:prstGeom>
          <a:noFill/>
        </p:spPr>
        <p:txBody>
          <a:bodyPr wrap="square" lIns="0" rIns="0" tIns="0" bIns="0" anchor="t">
            <a:spAutoFit/>
          </a:bodyPr>
          <a:lstStyle/>
          <a:p>
            <a:pPr algn="ctr">
              <a:spcAft>
                <a:spcPts val="0"/>
              </a:spcAft>
              <a:defRPr sz="1100" b="1">
                <a:solidFill>
                  <a:srgbClr val="FFFFFF"/>
                </a:solidFill>
                <a:latin typeface="Segoe UI"/>
              </a:defRPr>
            </a:pPr>
            <a:r>
              <a:t>✓</a:t>
            </a:r>
          </a:p>
        </p:txBody>
      </p:sp>
      <p:sp>
        <p:nvSpPr>
          <p:cNvPr id="33" name="TextBox 32"/>
          <p:cNvSpPr txBox="1"/>
          <p:nvPr/>
        </p:nvSpPr>
        <p:spPr>
          <a:xfrm>
            <a:off x="1219200" y="4343400"/>
            <a:ext cx="3302000" cy="368300"/>
          </a:xfrm>
          <a:prstGeom prst="rect">
            <a:avLst/>
          </a:prstGeom>
          <a:noFill/>
        </p:spPr>
        <p:txBody>
          <a:bodyPr wrap="square" lIns="0" rIns="0" tIns="0" bIns="0" anchor="t">
            <a:spAutoFit/>
          </a:bodyPr>
          <a:lstStyle/>
          <a:p>
            <a:pPr algn="l">
              <a:spcAft>
                <a:spcPts val="200"/>
              </a:spcAft>
              <a:defRPr sz="1500" b="1">
                <a:solidFill>
                  <a:srgbClr val="18313F"/>
                </a:solidFill>
                <a:latin typeface="Segoe UI"/>
              </a:defRPr>
            </a:pPr>
            <a:r>
              <a:t>Закрытие урока</a:t>
            </a:r>
          </a:p>
        </p:txBody>
      </p:sp>
      <p:sp>
        <p:nvSpPr>
          <p:cNvPr id="34" name="TextBox 33"/>
          <p:cNvSpPr txBox="1"/>
          <p:nvPr/>
        </p:nvSpPr>
        <p:spPr>
          <a:xfrm>
            <a:off x="4635500" y="4330700"/>
            <a:ext cx="4953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Видео останавливается и не играет в фоне</a:t>
            </a:r>
          </a:p>
        </p:txBody>
      </p:sp>
      <p:sp>
        <p:nvSpPr>
          <p:cNvPr id="35" name="TextBox 34"/>
          <p:cNvSpPr txBox="1"/>
          <p:nvPr/>
        </p:nvSpPr>
        <p:spPr>
          <a:xfrm>
            <a:off x="9969500" y="4368800"/>
            <a:ext cx="1460500" cy="254000"/>
          </a:xfrm>
          <a:prstGeom prst="rect">
            <a:avLst/>
          </a:prstGeom>
          <a:noFill/>
        </p:spPr>
        <p:txBody>
          <a:bodyPr wrap="square" lIns="0" rIns="0" tIns="0" bIns="0" anchor="t">
            <a:spAutoFit/>
          </a:bodyPr>
          <a:lstStyle/>
          <a:p>
            <a:pPr algn="r">
              <a:spcAft>
                <a:spcPts val="0"/>
              </a:spcAft>
              <a:defRPr sz="1000" b="1">
                <a:solidFill>
                  <a:srgbClr val="2E7D5B"/>
                </a:solidFill>
                <a:latin typeface="Segoe UI"/>
              </a:defRPr>
            </a:pPr>
            <a:r>
              <a:t>ПРОЙДЕН</a:t>
            </a:r>
          </a:p>
        </p:txBody>
      </p:sp>
      <p:sp>
        <p:nvSpPr>
          <p:cNvPr id="36" name="Rectangle 35"/>
          <p:cNvSpPr/>
          <p:nvPr/>
        </p:nvSpPr>
        <p:spPr>
          <a:xfrm>
            <a:off x="660400" y="5334000"/>
            <a:ext cx="10871200" cy="673100"/>
          </a:xfrm>
          <a:prstGeom prst="rect">
            <a:avLst/>
          </a:prstGeom>
          <a:solidFill>
            <a:srgbClr val="F4E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0600" y="5511800"/>
            <a:ext cx="10210800" cy="304800"/>
          </a:xfrm>
          <a:prstGeom prst="rect">
            <a:avLst/>
          </a:prstGeom>
          <a:noFill/>
        </p:spPr>
        <p:txBody>
          <a:bodyPr wrap="square" lIns="0" rIns="0" tIns="0" bIns="0" anchor="t">
            <a:spAutoFit/>
          </a:bodyPr>
          <a:lstStyle/>
          <a:p>
            <a:pPr algn="ctr">
              <a:spcAft>
                <a:spcPts val="200"/>
              </a:spcAft>
              <a:defRPr sz="1600" b="1">
                <a:solidFill>
                  <a:srgbClr val="18313F"/>
                </a:solidFill>
                <a:latin typeface="Segoe UI"/>
              </a:defRPr>
            </a:pPr>
            <a:r>
              <a:t>После исправлений я повторно прошёл эти четыре проверки.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РАЗДЕЛ «НАМАЗ»</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13</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Как я проверял раздел «Намаз»</a:t>
            </a:r>
          </a:p>
        </p:txBody>
      </p:sp>
      <p:sp>
        <p:nvSpPr>
          <p:cNvPr id="9" name="Rectangle 8"/>
          <p:cNvSpPr/>
          <p:nvPr/>
        </p:nvSpPr>
        <p:spPr>
          <a:xfrm>
            <a:off x="533400" y="1524000"/>
            <a:ext cx="4394200" cy="44831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299210" y="1587500"/>
            <a:ext cx="2862580" cy="4356100"/>
          </a:xfrm>
          <a:prstGeom prst="rect">
            <a:avLst/>
          </a:prstGeom>
        </p:spPr>
      </p:pic>
      <p:sp>
        <p:nvSpPr>
          <p:cNvPr id="11" name="Oval 10"/>
          <p:cNvSpPr/>
          <p:nvPr/>
        </p:nvSpPr>
        <p:spPr>
          <a:xfrm>
            <a:off x="5626100" y="1739900"/>
            <a:ext cx="419100" cy="419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6100" y="1841500"/>
            <a:ext cx="4191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1</a:t>
            </a:r>
          </a:p>
        </p:txBody>
      </p:sp>
      <p:sp>
        <p:nvSpPr>
          <p:cNvPr id="13" name="TextBox 12"/>
          <p:cNvSpPr txBox="1"/>
          <p:nvPr/>
        </p:nvSpPr>
        <p:spPr>
          <a:xfrm>
            <a:off x="6248400" y="1739900"/>
            <a:ext cx="2349500" cy="304800"/>
          </a:xfrm>
          <a:prstGeom prst="rect">
            <a:avLst/>
          </a:prstGeom>
          <a:noFill/>
        </p:spPr>
        <p:txBody>
          <a:bodyPr wrap="square" lIns="0" rIns="0" tIns="0" bIns="0" anchor="t">
            <a:spAutoFit/>
          </a:bodyPr>
          <a:lstStyle/>
          <a:p>
            <a:pPr algn="l">
              <a:spcAft>
                <a:spcPts val="200"/>
              </a:spcAft>
              <a:defRPr sz="1600" b="1">
                <a:solidFill>
                  <a:srgbClr val="18313F"/>
                </a:solidFill>
                <a:latin typeface="Georgia"/>
              </a:defRPr>
            </a:pPr>
            <a:r>
              <a:t>Местоположение</a:t>
            </a:r>
          </a:p>
        </p:txBody>
      </p:sp>
      <p:sp>
        <p:nvSpPr>
          <p:cNvPr id="14" name="TextBox 13"/>
          <p:cNvSpPr txBox="1"/>
          <p:nvPr/>
        </p:nvSpPr>
        <p:spPr>
          <a:xfrm>
            <a:off x="6248400" y="2120900"/>
            <a:ext cx="4699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текущие координаты или Бишкек</a:t>
            </a:r>
          </a:p>
        </p:txBody>
      </p:sp>
      <p:sp>
        <p:nvSpPr>
          <p:cNvPr id="15" name="Oval 14"/>
          <p:cNvSpPr/>
          <p:nvPr/>
        </p:nvSpPr>
        <p:spPr>
          <a:xfrm>
            <a:off x="5626100" y="2781300"/>
            <a:ext cx="419100" cy="4191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6100" y="2882900"/>
            <a:ext cx="4191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2</a:t>
            </a:r>
          </a:p>
        </p:txBody>
      </p:sp>
      <p:sp>
        <p:nvSpPr>
          <p:cNvPr id="17" name="TextBox 16"/>
          <p:cNvSpPr txBox="1"/>
          <p:nvPr/>
        </p:nvSpPr>
        <p:spPr>
          <a:xfrm>
            <a:off x="6248400" y="2781300"/>
            <a:ext cx="2349500" cy="304800"/>
          </a:xfrm>
          <a:prstGeom prst="rect">
            <a:avLst/>
          </a:prstGeom>
          <a:noFill/>
        </p:spPr>
        <p:txBody>
          <a:bodyPr wrap="square" lIns="0" rIns="0" tIns="0" bIns="0" anchor="t">
            <a:spAutoFit/>
          </a:bodyPr>
          <a:lstStyle/>
          <a:p>
            <a:pPr algn="l">
              <a:spcAft>
                <a:spcPts val="200"/>
              </a:spcAft>
              <a:defRPr sz="1600" b="1">
                <a:solidFill>
                  <a:srgbClr val="18313F"/>
                </a:solidFill>
                <a:latin typeface="Georgia"/>
              </a:defRPr>
            </a:pPr>
            <a:r>
              <a:t>Время</a:t>
            </a:r>
          </a:p>
        </p:txBody>
      </p:sp>
      <p:sp>
        <p:nvSpPr>
          <p:cNvPr id="18" name="TextBox 17"/>
          <p:cNvSpPr txBox="1"/>
          <p:nvPr/>
        </p:nvSpPr>
        <p:spPr>
          <a:xfrm>
            <a:off x="6248400" y="3162300"/>
            <a:ext cx="4699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расписание и направление Кыблы</a:t>
            </a:r>
          </a:p>
        </p:txBody>
      </p:sp>
      <p:sp>
        <p:nvSpPr>
          <p:cNvPr id="19" name="Oval 18"/>
          <p:cNvSpPr/>
          <p:nvPr/>
        </p:nvSpPr>
        <p:spPr>
          <a:xfrm>
            <a:off x="5626100" y="3822700"/>
            <a:ext cx="419100" cy="4191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26100" y="3924300"/>
            <a:ext cx="4191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3</a:t>
            </a:r>
          </a:p>
        </p:txBody>
      </p:sp>
      <p:sp>
        <p:nvSpPr>
          <p:cNvPr id="21" name="TextBox 20"/>
          <p:cNvSpPr txBox="1"/>
          <p:nvPr/>
        </p:nvSpPr>
        <p:spPr>
          <a:xfrm>
            <a:off x="6248400" y="3822700"/>
            <a:ext cx="2349500" cy="304800"/>
          </a:xfrm>
          <a:prstGeom prst="rect">
            <a:avLst/>
          </a:prstGeom>
          <a:noFill/>
        </p:spPr>
        <p:txBody>
          <a:bodyPr wrap="square" lIns="0" rIns="0" tIns="0" bIns="0" anchor="t">
            <a:spAutoFit/>
          </a:bodyPr>
          <a:lstStyle/>
          <a:p>
            <a:pPr algn="l">
              <a:spcAft>
                <a:spcPts val="200"/>
              </a:spcAft>
              <a:defRPr sz="1600" b="1">
                <a:solidFill>
                  <a:srgbClr val="18313F"/>
                </a:solidFill>
                <a:latin typeface="Georgia"/>
              </a:defRPr>
            </a:pPr>
            <a:r>
              <a:t>Экран</a:t>
            </a:r>
          </a:p>
        </p:txBody>
      </p:sp>
      <p:sp>
        <p:nvSpPr>
          <p:cNvPr id="22" name="TextBox 21"/>
          <p:cNvSpPr txBox="1"/>
          <p:nvPr/>
        </p:nvSpPr>
        <p:spPr>
          <a:xfrm>
            <a:off x="6248400" y="4203700"/>
            <a:ext cx="4699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намазы, компас и обратный отсчёт</a:t>
            </a:r>
          </a:p>
        </p:txBody>
      </p:sp>
      <p:sp>
        <p:nvSpPr>
          <p:cNvPr id="23" name="Oval 22"/>
          <p:cNvSpPr/>
          <p:nvPr/>
        </p:nvSpPr>
        <p:spPr>
          <a:xfrm>
            <a:off x="5626100" y="4864100"/>
            <a:ext cx="419100" cy="4191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26100" y="4965700"/>
            <a:ext cx="4191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4</a:t>
            </a:r>
          </a:p>
        </p:txBody>
      </p:sp>
      <p:sp>
        <p:nvSpPr>
          <p:cNvPr id="25" name="TextBox 24"/>
          <p:cNvSpPr txBox="1"/>
          <p:nvPr/>
        </p:nvSpPr>
        <p:spPr>
          <a:xfrm>
            <a:off x="6248400" y="4864100"/>
            <a:ext cx="2349500" cy="304800"/>
          </a:xfrm>
          <a:prstGeom prst="rect">
            <a:avLst/>
          </a:prstGeom>
          <a:noFill/>
        </p:spPr>
        <p:txBody>
          <a:bodyPr wrap="square" lIns="0" rIns="0" tIns="0" bIns="0" anchor="t">
            <a:spAutoFit/>
          </a:bodyPr>
          <a:lstStyle/>
          <a:p>
            <a:pPr algn="l">
              <a:spcAft>
                <a:spcPts val="200"/>
              </a:spcAft>
              <a:defRPr sz="1600" b="1">
                <a:solidFill>
                  <a:srgbClr val="18313F"/>
                </a:solidFill>
                <a:latin typeface="Georgia"/>
              </a:defRPr>
            </a:pPr>
            <a:r>
              <a:t>Напоминание</a:t>
            </a:r>
          </a:p>
        </p:txBody>
      </p:sp>
      <p:sp>
        <p:nvSpPr>
          <p:cNvPr id="26" name="TextBox 25"/>
          <p:cNvSpPr txBox="1"/>
          <p:nvPr/>
        </p:nvSpPr>
        <p:spPr>
          <a:xfrm>
            <a:off x="6248400" y="5245100"/>
            <a:ext cx="4699000" cy="431800"/>
          </a:xfrm>
          <a:prstGeom prst="rect">
            <a:avLst/>
          </a:prstGeom>
          <a:noFill/>
        </p:spPr>
        <p:txBody>
          <a:bodyPr wrap="square" lIns="0" rIns="0" tIns="0" bIns="0" anchor="t">
            <a:spAutoFit/>
          </a:bodyPr>
          <a:lstStyle/>
          <a:p>
            <a:pPr algn="l">
              <a:spcAft>
                <a:spcPts val="200"/>
              </a:spcAft>
              <a:defRPr sz="1400" b="0">
                <a:solidFill>
                  <a:srgbClr val="60727B"/>
                </a:solidFill>
                <a:latin typeface="Segoe UI"/>
              </a:defRPr>
            </a:pPr>
            <a:r>
              <a:t>уведомление на телефоне</a:t>
            </a:r>
          </a:p>
        </p:txBody>
      </p:sp>
      <p:sp>
        <p:nvSpPr>
          <p:cNvPr id="27" name="TextBox 26"/>
          <p:cNvSpPr txBox="1"/>
          <p:nvPr/>
        </p:nvSpPr>
        <p:spPr>
          <a:xfrm>
            <a:off x="5626100" y="5676900"/>
            <a:ext cx="5651500" cy="482600"/>
          </a:xfrm>
          <a:prstGeom prst="rect">
            <a:avLst/>
          </a:prstGeom>
          <a:noFill/>
        </p:spPr>
        <p:txBody>
          <a:bodyPr wrap="square" lIns="0" rIns="0" tIns="0" bIns="0" anchor="t">
            <a:spAutoFit/>
          </a:bodyPr>
          <a:lstStyle/>
          <a:p>
            <a:pPr algn="l">
              <a:spcAft>
                <a:spcPts val="200"/>
              </a:spcAft>
              <a:defRPr sz="1400" b="1">
                <a:solidFill>
                  <a:srgbClr val="B95F4B"/>
                </a:solidFill>
                <a:latin typeface="Segoe UI"/>
              </a:defRPr>
            </a:pPr>
            <a:r>
              <a:t>Каждый шаг проверялся отдельно, затем весь раздел целиком.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РАЗДЕЛ «НАМАЗ» · МЕСТОПОЛОЖЕНИЕ</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14</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Если местоположение недоступно</a:t>
            </a:r>
          </a:p>
        </p:txBody>
      </p:sp>
      <p:sp>
        <p:nvSpPr>
          <p:cNvPr id="9" name="Rectangle 8"/>
          <p:cNvSpPr/>
          <p:nvPr/>
        </p:nvSpPr>
        <p:spPr>
          <a:xfrm>
            <a:off x="533400" y="1816100"/>
            <a:ext cx="5461000" cy="14986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1116818" y="1879600"/>
            <a:ext cx="4294163" cy="1371600"/>
          </a:xfrm>
          <a:prstGeom prst="rect">
            <a:avLst/>
          </a:prstGeom>
        </p:spPr>
      </p:pic>
      <p:sp>
        <p:nvSpPr>
          <p:cNvPr id="11" name="Rectangle 10"/>
          <p:cNvSpPr/>
          <p:nvPr/>
        </p:nvSpPr>
        <p:spPr>
          <a:xfrm>
            <a:off x="533400" y="3860800"/>
            <a:ext cx="5461000" cy="17145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1606280" y="3924300"/>
            <a:ext cx="3315238" cy="1587499"/>
          </a:xfrm>
          <a:prstGeom prst="rect">
            <a:avLst/>
          </a:prstGeom>
        </p:spPr>
      </p:pic>
      <p:sp>
        <p:nvSpPr>
          <p:cNvPr id="13" name="TextBox 12"/>
          <p:cNvSpPr txBox="1"/>
          <p:nvPr/>
        </p:nvSpPr>
        <p:spPr>
          <a:xfrm>
            <a:off x="6731000" y="1816100"/>
            <a:ext cx="3810000" cy="317500"/>
          </a:xfrm>
          <a:prstGeom prst="rect">
            <a:avLst/>
          </a:prstGeom>
          <a:noFill/>
        </p:spPr>
        <p:txBody>
          <a:bodyPr wrap="square" lIns="0" rIns="0" tIns="0" bIns="0" anchor="t">
            <a:spAutoFit/>
          </a:bodyPr>
          <a:lstStyle/>
          <a:p>
            <a:pPr algn="l">
              <a:spcAft>
                <a:spcPts val="200"/>
              </a:spcAft>
              <a:defRPr sz="1500" b="1">
                <a:solidFill>
                  <a:srgbClr val="B95F4B"/>
                </a:solidFill>
                <a:latin typeface="Segoe UI"/>
              </a:defRPr>
            </a:pPr>
            <a:r>
              <a:t>Проверенные состояния</a:t>
            </a:r>
          </a:p>
        </p:txBody>
      </p:sp>
      <p:sp>
        <p:nvSpPr>
          <p:cNvPr id="14" name="TextBox 13"/>
          <p:cNvSpPr txBox="1"/>
          <p:nvPr/>
        </p:nvSpPr>
        <p:spPr>
          <a:xfrm>
            <a:off x="6731000" y="2387600"/>
            <a:ext cx="3937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01</a:t>
            </a:r>
          </a:p>
        </p:txBody>
      </p:sp>
      <p:sp>
        <p:nvSpPr>
          <p:cNvPr id="15" name="TextBox 14"/>
          <p:cNvSpPr txBox="1"/>
          <p:nvPr/>
        </p:nvSpPr>
        <p:spPr>
          <a:xfrm>
            <a:off x="7315200" y="2387600"/>
            <a:ext cx="3556000" cy="2794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определение места включено</a:t>
            </a:r>
          </a:p>
        </p:txBody>
      </p:sp>
      <p:sp>
        <p:nvSpPr>
          <p:cNvPr id="16" name="TextBox 15"/>
          <p:cNvSpPr txBox="1"/>
          <p:nvPr/>
        </p:nvSpPr>
        <p:spPr>
          <a:xfrm>
            <a:off x="6731000" y="2933700"/>
            <a:ext cx="3937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02</a:t>
            </a:r>
          </a:p>
        </p:txBody>
      </p:sp>
      <p:sp>
        <p:nvSpPr>
          <p:cNvPr id="17" name="TextBox 16"/>
          <p:cNvSpPr txBox="1"/>
          <p:nvPr/>
        </p:nvSpPr>
        <p:spPr>
          <a:xfrm>
            <a:off x="7315200" y="2933700"/>
            <a:ext cx="3556000" cy="2794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доступ разрешён</a:t>
            </a:r>
          </a:p>
        </p:txBody>
      </p:sp>
      <p:sp>
        <p:nvSpPr>
          <p:cNvPr id="18" name="TextBox 17"/>
          <p:cNvSpPr txBox="1"/>
          <p:nvPr/>
        </p:nvSpPr>
        <p:spPr>
          <a:xfrm>
            <a:off x="6731000" y="3479800"/>
            <a:ext cx="3937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03</a:t>
            </a:r>
          </a:p>
        </p:txBody>
      </p:sp>
      <p:sp>
        <p:nvSpPr>
          <p:cNvPr id="19" name="TextBox 18"/>
          <p:cNvSpPr txBox="1"/>
          <p:nvPr/>
        </p:nvSpPr>
        <p:spPr>
          <a:xfrm>
            <a:off x="7315200" y="3479800"/>
            <a:ext cx="3556000" cy="2794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доступ запрещён</a:t>
            </a:r>
          </a:p>
        </p:txBody>
      </p:sp>
      <p:sp>
        <p:nvSpPr>
          <p:cNvPr id="20" name="TextBox 19"/>
          <p:cNvSpPr txBox="1"/>
          <p:nvPr/>
        </p:nvSpPr>
        <p:spPr>
          <a:xfrm>
            <a:off x="6731000" y="4025900"/>
            <a:ext cx="3937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04</a:t>
            </a:r>
          </a:p>
        </p:txBody>
      </p:sp>
      <p:sp>
        <p:nvSpPr>
          <p:cNvPr id="21" name="TextBox 20"/>
          <p:cNvSpPr txBox="1"/>
          <p:nvPr/>
        </p:nvSpPr>
        <p:spPr>
          <a:xfrm>
            <a:off x="7315200" y="4025900"/>
            <a:ext cx="3556000" cy="2794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доступ запрещён постоянно</a:t>
            </a:r>
          </a:p>
        </p:txBody>
      </p:sp>
      <p:sp>
        <p:nvSpPr>
          <p:cNvPr id="22" name="TextBox 21"/>
          <p:cNvSpPr txBox="1"/>
          <p:nvPr/>
        </p:nvSpPr>
        <p:spPr>
          <a:xfrm>
            <a:off x="6731000" y="4572000"/>
            <a:ext cx="393700" cy="266700"/>
          </a:xfrm>
          <a:prstGeom prst="rect">
            <a:avLst/>
          </a:prstGeom>
          <a:noFill/>
        </p:spPr>
        <p:txBody>
          <a:bodyPr wrap="square" lIns="0" rIns="0" tIns="0" bIns="0" anchor="t">
            <a:spAutoFit/>
          </a:bodyPr>
          <a:lstStyle/>
          <a:p>
            <a:pPr algn="l">
              <a:spcAft>
                <a:spcPts val="200"/>
              </a:spcAft>
              <a:defRPr sz="1200" b="1">
                <a:solidFill>
                  <a:srgbClr val="D3A13B"/>
                </a:solidFill>
                <a:latin typeface="Georgia"/>
              </a:defRPr>
            </a:pPr>
            <a:r>
              <a:t>05</a:t>
            </a:r>
          </a:p>
        </p:txBody>
      </p:sp>
      <p:sp>
        <p:nvSpPr>
          <p:cNvPr id="23" name="TextBox 22"/>
          <p:cNvSpPr txBox="1"/>
          <p:nvPr/>
        </p:nvSpPr>
        <p:spPr>
          <a:xfrm>
            <a:off x="7315200" y="4572000"/>
            <a:ext cx="3556000" cy="279400"/>
          </a:xfrm>
          <a:prstGeom prst="rect">
            <a:avLst/>
          </a:prstGeom>
          <a:noFill/>
        </p:spPr>
        <p:txBody>
          <a:bodyPr wrap="square" lIns="0" rIns="0" tIns="0" bIns="0" anchor="t">
            <a:spAutoFit/>
          </a:bodyPr>
          <a:lstStyle/>
          <a:p>
            <a:pPr algn="l">
              <a:spcAft>
                <a:spcPts val="200"/>
              </a:spcAft>
              <a:defRPr sz="1600" b="0">
                <a:solidFill>
                  <a:srgbClr val="18313F"/>
                </a:solidFill>
                <a:latin typeface="Segoe UI"/>
              </a:defRPr>
            </a:pPr>
            <a:r>
              <a:t>нет ответа в течение 5 секунд</a:t>
            </a:r>
          </a:p>
        </p:txBody>
      </p:sp>
      <p:sp>
        <p:nvSpPr>
          <p:cNvPr id="24" name="Rectangle 23"/>
          <p:cNvSpPr/>
          <p:nvPr/>
        </p:nvSpPr>
        <p:spPr>
          <a:xfrm>
            <a:off x="6604000" y="5334000"/>
            <a:ext cx="4851400" cy="558800"/>
          </a:xfrm>
          <a:prstGeom prst="rect">
            <a:avLst/>
          </a:prstGeom>
          <a:solidFill>
            <a:srgbClr val="DCE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2600" y="5448300"/>
            <a:ext cx="4394200" cy="330200"/>
          </a:xfrm>
          <a:prstGeom prst="rect">
            <a:avLst/>
          </a:prstGeom>
          <a:noFill/>
        </p:spPr>
        <p:txBody>
          <a:bodyPr wrap="square" lIns="0" rIns="0" tIns="0" bIns="0" anchor="t">
            <a:spAutoFit/>
          </a:bodyPr>
          <a:lstStyle/>
          <a:p>
            <a:pPr algn="ctr">
              <a:spcAft>
                <a:spcPts val="200"/>
              </a:spcAft>
              <a:defRPr sz="1300" b="1">
                <a:solidFill>
                  <a:srgbClr val="18313F"/>
                </a:solidFill>
                <a:latin typeface="Segoe UI"/>
              </a:defRPr>
            </a:pPr>
            <a:r>
              <a:t>Если место не определено: Бишкек · 42.8746, 74.5698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РАЗДЕЛ «НАМАЗ» · РАСПИСАНИЕ</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15</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Проверка времени и следующего намаза</a:t>
            </a:r>
          </a:p>
        </p:txBody>
      </p:sp>
      <p:sp>
        <p:nvSpPr>
          <p:cNvPr id="9" name="Rectangle 8"/>
          <p:cNvSpPr/>
          <p:nvPr/>
        </p:nvSpPr>
        <p:spPr>
          <a:xfrm>
            <a:off x="533400" y="1841500"/>
            <a:ext cx="11125200" cy="838200"/>
          </a:xfrm>
          <a:prstGeom prst="rect">
            <a:avLst/>
          </a:prstGeom>
          <a:solidFill>
            <a:srgbClr val="18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000" y="2108200"/>
            <a:ext cx="3238500" cy="304800"/>
          </a:xfrm>
          <a:prstGeom prst="rect">
            <a:avLst/>
          </a:prstGeom>
          <a:noFill/>
        </p:spPr>
        <p:txBody>
          <a:bodyPr wrap="square" lIns="0" rIns="0" tIns="0" bIns="0" anchor="t">
            <a:spAutoFit/>
          </a:bodyPr>
          <a:lstStyle/>
          <a:p>
            <a:pPr algn="l">
              <a:spcAft>
                <a:spcPts val="200"/>
              </a:spcAft>
              <a:defRPr sz="1500" b="1">
                <a:solidFill>
                  <a:srgbClr val="FFFFFF"/>
                </a:solidFill>
                <a:latin typeface="Georgia"/>
              </a:defRPr>
            </a:pPr>
            <a:r>
              <a:t>Настройки расчёта</a:t>
            </a:r>
          </a:p>
        </p:txBody>
      </p:sp>
      <p:sp>
        <p:nvSpPr>
          <p:cNvPr id="11" name="TextBox 10"/>
          <p:cNvSpPr txBox="1"/>
          <p:nvPr/>
        </p:nvSpPr>
        <p:spPr>
          <a:xfrm>
            <a:off x="4140200" y="2108200"/>
            <a:ext cx="3581400" cy="304800"/>
          </a:xfrm>
          <a:prstGeom prst="rect">
            <a:avLst/>
          </a:prstGeom>
          <a:noFill/>
        </p:spPr>
        <p:txBody>
          <a:bodyPr wrap="square" lIns="0" rIns="0" tIns="0" bIns="0" anchor="t">
            <a:spAutoFit/>
          </a:bodyPr>
          <a:lstStyle/>
          <a:p>
            <a:pPr algn="ctr">
              <a:spcAft>
                <a:spcPts val="200"/>
              </a:spcAft>
              <a:defRPr sz="1400" b="1">
                <a:solidFill>
                  <a:srgbClr val="D3A13B"/>
                </a:solidFill>
                <a:latin typeface="Georgia"/>
              </a:defRPr>
            </a:pPr>
            <a:r>
              <a:t>Аср по ханафитскому методу</a:t>
            </a:r>
          </a:p>
        </p:txBody>
      </p:sp>
      <p:sp>
        <p:nvSpPr>
          <p:cNvPr id="12" name="TextBox 11"/>
          <p:cNvSpPr txBox="1"/>
          <p:nvPr/>
        </p:nvSpPr>
        <p:spPr>
          <a:xfrm>
            <a:off x="7734300" y="2108200"/>
            <a:ext cx="3492500" cy="304800"/>
          </a:xfrm>
          <a:prstGeom prst="rect">
            <a:avLst/>
          </a:prstGeom>
          <a:noFill/>
        </p:spPr>
        <p:txBody>
          <a:bodyPr wrap="square" lIns="0" rIns="0" tIns="0" bIns="0" anchor="t">
            <a:spAutoFit/>
          </a:bodyPr>
          <a:lstStyle/>
          <a:p>
            <a:pPr algn="r">
              <a:spcAft>
                <a:spcPts val="200"/>
              </a:spcAft>
              <a:defRPr sz="1500" b="1">
                <a:solidFill>
                  <a:srgbClr val="FFFFFF"/>
                </a:solidFill>
                <a:latin typeface="Georgia"/>
              </a:defRPr>
            </a:pPr>
            <a:r>
              <a:t>5 обязательных намазов</a:t>
            </a:r>
          </a:p>
        </p:txBody>
      </p:sp>
      <p:sp>
        <p:nvSpPr>
          <p:cNvPr id="13" name="TextBox 12"/>
          <p:cNvSpPr txBox="1"/>
          <p:nvPr/>
        </p:nvSpPr>
        <p:spPr>
          <a:xfrm>
            <a:off x="533400" y="3276600"/>
            <a:ext cx="571500" cy="3556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01</a:t>
            </a:r>
          </a:p>
        </p:txBody>
      </p:sp>
      <p:sp>
        <p:nvSpPr>
          <p:cNvPr id="14" name="TextBox 13"/>
          <p:cNvSpPr txBox="1"/>
          <p:nvPr/>
        </p:nvSpPr>
        <p:spPr>
          <a:xfrm>
            <a:off x="1193800" y="3276600"/>
            <a:ext cx="2794000" cy="3175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Обычный день</a:t>
            </a:r>
          </a:p>
        </p:txBody>
      </p:sp>
      <p:cxnSp>
        <p:nvCxnSpPr>
          <p:cNvPr id="15" name="Connector 14"/>
          <p:cNvCxnSpPr/>
          <p:nvPr/>
        </p:nvCxnSpPr>
        <p:spPr>
          <a:xfrm>
            <a:off x="533400" y="3822700"/>
            <a:ext cx="3276600" cy="0"/>
          </a:xfrm>
          <a:prstGeom prst="line">
            <a:avLst/>
          </a:prstGeom>
          <a:ln w="15875">
            <a:solidFill>
              <a:srgbClr val="D7D0C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3400" y="4102100"/>
            <a:ext cx="3276600" cy="1066800"/>
          </a:xfrm>
          <a:prstGeom prst="rect">
            <a:avLst/>
          </a:prstGeom>
          <a:noFill/>
        </p:spPr>
        <p:txBody>
          <a:bodyPr wrap="square" lIns="0" rIns="0" tIns="0" bIns="0" anchor="t">
            <a:spAutoFit/>
          </a:bodyPr>
          <a:lstStyle/>
          <a:p>
            <a:pPr algn="l">
              <a:spcAft>
                <a:spcPts val="200"/>
              </a:spcAft>
              <a:defRPr sz="1500" b="0">
                <a:solidFill>
                  <a:srgbClr val="60727B"/>
                </a:solidFill>
                <a:latin typeface="Segoe UI"/>
              </a:defRPr>
            </a:pPr>
            <a:r>
              <a:t>Выбирается первый намаз, время которого ещё не наступило.</a:t>
            </a:r>
          </a:p>
        </p:txBody>
      </p:sp>
      <p:sp>
        <p:nvSpPr>
          <p:cNvPr id="17" name="TextBox 16"/>
          <p:cNvSpPr txBox="1"/>
          <p:nvPr/>
        </p:nvSpPr>
        <p:spPr>
          <a:xfrm>
            <a:off x="4241800" y="3276600"/>
            <a:ext cx="571500" cy="3556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02</a:t>
            </a:r>
          </a:p>
        </p:txBody>
      </p:sp>
      <p:sp>
        <p:nvSpPr>
          <p:cNvPr id="18" name="TextBox 17"/>
          <p:cNvSpPr txBox="1"/>
          <p:nvPr/>
        </p:nvSpPr>
        <p:spPr>
          <a:xfrm>
            <a:off x="4902200" y="3276600"/>
            <a:ext cx="2794000" cy="3175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После Иша</a:t>
            </a:r>
          </a:p>
        </p:txBody>
      </p:sp>
      <p:cxnSp>
        <p:nvCxnSpPr>
          <p:cNvPr id="19" name="Connector 18"/>
          <p:cNvCxnSpPr/>
          <p:nvPr/>
        </p:nvCxnSpPr>
        <p:spPr>
          <a:xfrm>
            <a:off x="4241800" y="3822700"/>
            <a:ext cx="3276600" cy="0"/>
          </a:xfrm>
          <a:prstGeom prst="line">
            <a:avLst/>
          </a:prstGeom>
          <a:ln w="15875">
            <a:solidFill>
              <a:srgbClr val="D7D0C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41800" y="4102100"/>
            <a:ext cx="3276600" cy="1066800"/>
          </a:xfrm>
          <a:prstGeom prst="rect">
            <a:avLst/>
          </a:prstGeom>
          <a:noFill/>
        </p:spPr>
        <p:txBody>
          <a:bodyPr wrap="square" lIns="0" rIns="0" tIns="0" bIns="0" anchor="t">
            <a:spAutoFit/>
          </a:bodyPr>
          <a:lstStyle/>
          <a:p>
            <a:pPr algn="l">
              <a:spcAft>
                <a:spcPts val="200"/>
              </a:spcAft>
              <a:defRPr sz="1500" b="0">
                <a:solidFill>
                  <a:srgbClr val="60727B"/>
                </a:solidFill>
                <a:latin typeface="Segoe UI"/>
              </a:defRPr>
            </a:pPr>
            <a:r>
              <a:t>Следующим событием становится Фаджр следующего дня.</a:t>
            </a:r>
          </a:p>
        </p:txBody>
      </p:sp>
      <p:sp>
        <p:nvSpPr>
          <p:cNvPr id="21" name="TextBox 20"/>
          <p:cNvSpPr txBox="1"/>
          <p:nvPr/>
        </p:nvSpPr>
        <p:spPr>
          <a:xfrm>
            <a:off x="7950200" y="3276600"/>
            <a:ext cx="571500" cy="3556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03</a:t>
            </a:r>
          </a:p>
        </p:txBody>
      </p:sp>
      <p:sp>
        <p:nvSpPr>
          <p:cNvPr id="22" name="TextBox 21"/>
          <p:cNvSpPr txBox="1"/>
          <p:nvPr/>
        </p:nvSpPr>
        <p:spPr>
          <a:xfrm>
            <a:off x="8610600" y="3276600"/>
            <a:ext cx="2794000" cy="317500"/>
          </a:xfrm>
          <a:prstGeom prst="rect">
            <a:avLst/>
          </a:prstGeom>
          <a:noFill/>
        </p:spPr>
        <p:txBody>
          <a:bodyPr wrap="square" lIns="0" rIns="0" tIns="0" bIns="0" anchor="t">
            <a:spAutoFit/>
          </a:bodyPr>
          <a:lstStyle/>
          <a:p>
            <a:pPr algn="l">
              <a:spcAft>
                <a:spcPts val="200"/>
              </a:spcAft>
              <a:defRPr sz="1700" b="1">
                <a:solidFill>
                  <a:srgbClr val="18313F"/>
                </a:solidFill>
                <a:latin typeface="Georgia"/>
              </a:defRPr>
            </a:pPr>
            <a:r>
              <a:t>Смена даты</a:t>
            </a:r>
          </a:p>
        </p:txBody>
      </p:sp>
      <p:cxnSp>
        <p:nvCxnSpPr>
          <p:cNvPr id="23" name="Connector 22"/>
          <p:cNvCxnSpPr/>
          <p:nvPr/>
        </p:nvCxnSpPr>
        <p:spPr>
          <a:xfrm>
            <a:off x="7950200" y="3822700"/>
            <a:ext cx="3276600" cy="0"/>
          </a:xfrm>
          <a:prstGeom prst="line">
            <a:avLst/>
          </a:prstGeom>
          <a:ln w="15875">
            <a:solidFill>
              <a:srgbClr val="D7D0C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0200" y="4102100"/>
            <a:ext cx="3276600" cy="1066800"/>
          </a:xfrm>
          <a:prstGeom prst="rect">
            <a:avLst/>
          </a:prstGeom>
          <a:noFill/>
        </p:spPr>
        <p:txBody>
          <a:bodyPr wrap="square" lIns="0" rIns="0" tIns="0" bIns="0" anchor="t">
            <a:spAutoFit/>
          </a:bodyPr>
          <a:lstStyle/>
          <a:p>
            <a:pPr algn="l">
              <a:spcAft>
                <a:spcPts val="200"/>
              </a:spcAft>
              <a:defRPr sz="1500" b="0">
                <a:solidFill>
                  <a:srgbClr val="60727B"/>
                </a:solidFill>
                <a:latin typeface="Segoe UI"/>
              </a:defRPr>
            </a:pPr>
            <a:r>
              <a:t>Расписание и обратный отсчёт пересчитываются на экране.</a:t>
            </a:r>
          </a:p>
        </p:txBody>
      </p:sp>
      <p:sp>
        <p:nvSpPr>
          <p:cNvPr id="25" name="TextBox 24"/>
          <p:cNvSpPr txBox="1"/>
          <p:nvPr/>
        </p:nvSpPr>
        <p:spPr>
          <a:xfrm>
            <a:off x="1320800" y="5562600"/>
            <a:ext cx="9550400" cy="571500"/>
          </a:xfrm>
          <a:prstGeom prst="rect">
            <a:avLst/>
          </a:prstGeom>
          <a:noFill/>
        </p:spPr>
        <p:txBody>
          <a:bodyPr wrap="square" lIns="0" rIns="0" tIns="0" bIns="0" anchor="t">
            <a:spAutoFit/>
          </a:bodyPr>
          <a:lstStyle/>
          <a:p>
            <a:pPr algn="ctr">
              <a:spcAft>
                <a:spcPts val="200"/>
              </a:spcAft>
              <a:defRPr sz="1600" b="1">
                <a:solidFill>
                  <a:srgbClr val="2E7D5B"/>
                </a:solidFill>
                <a:latin typeface="Segoe UI"/>
              </a:defRPr>
            </a:pPr>
            <a:r>
              <a:t>После Иша следующим правильно показывается Фаджр следующего дня.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РАЗДЕЛ «НАМАЗ» · КЫБЛА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16</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Проверка направления Кыблы</a:t>
            </a:r>
          </a:p>
        </p:txBody>
      </p:sp>
      <p:sp>
        <p:nvSpPr>
          <p:cNvPr id="9" name="Rectangle 8"/>
          <p:cNvSpPr/>
          <p:nvPr/>
        </p:nvSpPr>
        <p:spPr>
          <a:xfrm>
            <a:off x="533400" y="1536700"/>
            <a:ext cx="6007100" cy="43434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596900" y="1764565"/>
            <a:ext cx="5880100" cy="3887669"/>
          </a:xfrm>
          <a:prstGeom prst="rect">
            <a:avLst/>
          </a:prstGeom>
        </p:spPr>
      </p:pic>
      <p:sp>
        <p:nvSpPr>
          <p:cNvPr id="11" name="TextBox 10"/>
          <p:cNvSpPr txBox="1"/>
          <p:nvPr/>
        </p:nvSpPr>
        <p:spPr>
          <a:xfrm>
            <a:off x="7835900" y="1866900"/>
            <a:ext cx="2413000" cy="889000"/>
          </a:xfrm>
          <a:prstGeom prst="rect">
            <a:avLst/>
          </a:prstGeom>
          <a:noFill/>
        </p:spPr>
        <p:txBody>
          <a:bodyPr wrap="square" lIns="0" rIns="0" tIns="0" bIns="0" anchor="t">
            <a:spAutoFit/>
          </a:bodyPr>
          <a:lstStyle/>
          <a:p>
            <a:pPr algn="ctr">
              <a:spcAft>
                <a:spcPts val="200"/>
              </a:spcAft>
              <a:defRPr sz="4300" b="1">
                <a:solidFill>
                  <a:srgbClr val="D3A13B"/>
                </a:solidFill>
                <a:latin typeface="Georgia"/>
              </a:defRPr>
            </a:pPr>
            <a:r>
              <a:t>245°</a:t>
            </a:r>
          </a:p>
        </p:txBody>
      </p:sp>
      <p:sp>
        <p:nvSpPr>
          <p:cNvPr id="12" name="TextBox 11"/>
          <p:cNvSpPr txBox="1"/>
          <p:nvPr/>
        </p:nvSpPr>
        <p:spPr>
          <a:xfrm>
            <a:off x="7645400" y="2819400"/>
            <a:ext cx="2794000" cy="3048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пример направления на Каабу</a:t>
            </a:r>
          </a:p>
        </p:txBody>
      </p:sp>
      <p:cxnSp>
        <p:nvCxnSpPr>
          <p:cNvPr id="13" name="Connector 12"/>
          <p:cNvCxnSpPr/>
          <p:nvPr/>
        </p:nvCxnSpPr>
        <p:spPr>
          <a:xfrm>
            <a:off x="7188200" y="3467100"/>
            <a:ext cx="3708400" cy="0"/>
          </a:xfrm>
          <a:prstGeom prst="line">
            <a:avLst/>
          </a:prstGeom>
          <a:ln w="15875">
            <a:solidFill>
              <a:srgbClr val="D7D0C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88200" y="3835400"/>
            <a:ext cx="3708400" cy="317500"/>
          </a:xfrm>
          <a:prstGeom prst="rect">
            <a:avLst/>
          </a:prstGeom>
          <a:noFill/>
        </p:spPr>
        <p:txBody>
          <a:bodyPr wrap="square" lIns="0" rIns="0" tIns="0" bIns="0" anchor="t">
            <a:spAutoFit/>
          </a:bodyPr>
          <a:lstStyle/>
          <a:p>
            <a:pPr algn="ctr">
              <a:spcAft>
                <a:spcPts val="200"/>
              </a:spcAft>
              <a:defRPr sz="1600" b="1">
                <a:solidFill>
                  <a:srgbClr val="18313F"/>
                </a:solidFill>
                <a:latin typeface="Georgia"/>
              </a:defRPr>
            </a:pPr>
            <a:r>
              <a:t>При повороте устройства</a:t>
            </a:r>
          </a:p>
        </p:txBody>
      </p:sp>
      <p:sp>
        <p:nvSpPr>
          <p:cNvPr id="15" name="TextBox 14"/>
          <p:cNvSpPr txBox="1"/>
          <p:nvPr/>
        </p:nvSpPr>
        <p:spPr>
          <a:xfrm>
            <a:off x="7353300" y="4381500"/>
            <a:ext cx="3378200" cy="927100"/>
          </a:xfrm>
          <a:prstGeom prst="rect">
            <a:avLst/>
          </a:prstGeom>
          <a:noFill/>
        </p:spPr>
        <p:txBody>
          <a:bodyPr wrap="square" lIns="0" rIns="0" tIns="0" bIns="0" anchor="t">
            <a:spAutoFit/>
          </a:bodyPr>
          <a:lstStyle/>
          <a:p>
            <a:pPr algn="ctr">
              <a:spcAft>
                <a:spcPts val="200"/>
              </a:spcAft>
              <a:defRPr sz="1500" b="0">
                <a:solidFill>
                  <a:srgbClr val="60727B"/>
                </a:solidFill>
                <a:latin typeface="Segoe UI"/>
              </a:defRPr>
            </a:pPr>
            <a:r>
              <a:t>я смотрел, правильно ли двигается стрелка и меняется угол</a:t>
            </a:r>
          </a:p>
        </p:txBody>
      </p:sp>
      <p:sp>
        <p:nvSpPr>
          <p:cNvPr id="16" name="TextBox 15"/>
          <p:cNvSpPr txBox="1"/>
          <p:nvPr/>
        </p:nvSpPr>
        <p:spPr>
          <a:xfrm>
            <a:off x="7213600" y="5600700"/>
            <a:ext cx="3657600" cy="482600"/>
          </a:xfrm>
          <a:prstGeom prst="rect">
            <a:avLst/>
          </a:prstGeom>
          <a:noFill/>
        </p:spPr>
        <p:txBody>
          <a:bodyPr wrap="square" lIns="0" rIns="0" tIns="0" bIns="0" anchor="t">
            <a:spAutoFit/>
          </a:bodyPr>
          <a:lstStyle/>
          <a:p>
            <a:pPr algn="ctr">
              <a:spcAft>
                <a:spcPts val="200"/>
              </a:spcAft>
              <a:defRPr sz="1300" b="1">
                <a:solidFill>
                  <a:srgbClr val="2E7D5B"/>
                </a:solidFill>
                <a:latin typeface="Segoe UI"/>
              </a:defRPr>
            </a:pPr>
            <a:r>
              <a:t>Без компаса экран не закрывается с ошибкой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РАЗДЕЛ «НАМАЗ» · НАПОМИНАНИЯ</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17</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Напоминания на телефоне и в браузере</a:t>
            </a:r>
          </a:p>
        </p:txBody>
      </p:sp>
      <p:sp>
        <p:nvSpPr>
          <p:cNvPr id="9" name="TextBox 8"/>
          <p:cNvSpPr txBox="1"/>
          <p:nvPr/>
        </p:nvSpPr>
        <p:spPr>
          <a:xfrm>
            <a:off x="533400" y="1676400"/>
            <a:ext cx="5080000" cy="241300"/>
          </a:xfrm>
          <a:prstGeom prst="rect">
            <a:avLst/>
          </a:prstGeom>
          <a:noFill/>
        </p:spPr>
        <p:txBody>
          <a:bodyPr wrap="square" lIns="0" rIns="0" tIns="0" bIns="0" anchor="t">
            <a:spAutoFit/>
          </a:bodyPr>
          <a:lstStyle/>
          <a:p>
            <a:pPr algn="l">
              <a:spcAft>
                <a:spcPts val="200"/>
              </a:spcAft>
              <a:defRPr sz="1100" b="1">
                <a:solidFill>
                  <a:srgbClr val="B95F4B"/>
                </a:solidFill>
                <a:latin typeface="Segoe UI"/>
              </a:defRPr>
            </a:pPr>
            <a:r>
              <a:t>ТЕЛЕФОН ANDROID</a:t>
            </a:r>
          </a:p>
        </p:txBody>
      </p:sp>
      <p:sp>
        <p:nvSpPr>
          <p:cNvPr id="10" name="Rectangle 9"/>
          <p:cNvSpPr/>
          <p:nvPr/>
        </p:nvSpPr>
        <p:spPr>
          <a:xfrm>
            <a:off x="533400" y="2108200"/>
            <a:ext cx="5207000" cy="19177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596899" y="2226075"/>
            <a:ext cx="5080000" cy="1681949"/>
          </a:xfrm>
          <a:prstGeom prst="rect">
            <a:avLst/>
          </a:prstGeom>
        </p:spPr>
      </p:pic>
      <p:sp>
        <p:nvSpPr>
          <p:cNvPr id="12" name="TextBox 11"/>
          <p:cNvSpPr txBox="1"/>
          <p:nvPr/>
        </p:nvSpPr>
        <p:spPr>
          <a:xfrm>
            <a:off x="533400" y="4267200"/>
            <a:ext cx="5207000" cy="279400"/>
          </a:xfrm>
          <a:prstGeom prst="rect">
            <a:avLst/>
          </a:prstGeom>
          <a:noFill/>
        </p:spPr>
        <p:txBody>
          <a:bodyPr wrap="square" lIns="0" rIns="0" tIns="0" bIns="0" anchor="t">
            <a:spAutoFit/>
          </a:bodyPr>
          <a:lstStyle/>
          <a:p>
            <a:pPr algn="ctr">
              <a:spcAft>
                <a:spcPts val="200"/>
              </a:spcAft>
              <a:defRPr sz="1300" b="1">
                <a:solidFill>
                  <a:srgbClr val="18313F"/>
                </a:solidFill>
                <a:latin typeface="Segoe UI"/>
              </a:defRPr>
            </a:pPr>
            <a:r>
              <a:t>Разрешение  ·  время  ·  название намаза</a:t>
            </a:r>
          </a:p>
        </p:txBody>
      </p:sp>
      <p:sp>
        <p:nvSpPr>
          <p:cNvPr id="13" name="TextBox 12"/>
          <p:cNvSpPr txBox="1"/>
          <p:nvPr/>
        </p:nvSpPr>
        <p:spPr>
          <a:xfrm>
            <a:off x="6451600" y="1676400"/>
            <a:ext cx="5080000" cy="241300"/>
          </a:xfrm>
          <a:prstGeom prst="rect">
            <a:avLst/>
          </a:prstGeom>
          <a:noFill/>
        </p:spPr>
        <p:txBody>
          <a:bodyPr wrap="square" lIns="0" rIns="0" tIns="0" bIns="0" anchor="t">
            <a:spAutoFit/>
          </a:bodyPr>
          <a:lstStyle/>
          <a:p>
            <a:pPr algn="l">
              <a:spcAft>
                <a:spcPts val="200"/>
              </a:spcAft>
              <a:defRPr sz="1100" b="1">
                <a:solidFill>
                  <a:srgbClr val="B95F4B"/>
                </a:solidFill>
                <a:latin typeface="Segoe UI"/>
              </a:defRPr>
            </a:pPr>
            <a:r>
              <a:t>БРАУЗЕР</a:t>
            </a:r>
          </a:p>
        </p:txBody>
      </p:sp>
      <p:sp>
        <p:nvSpPr>
          <p:cNvPr id="14" name="Rectangle 13"/>
          <p:cNvSpPr/>
          <p:nvPr/>
        </p:nvSpPr>
        <p:spPr>
          <a:xfrm>
            <a:off x="6451600" y="2108200"/>
            <a:ext cx="5080000" cy="2806700"/>
          </a:xfrm>
          <a:prstGeom prst="rect">
            <a:avLst/>
          </a:prstGeom>
          <a:solidFill>
            <a:srgbClr val="FFFFFF"/>
          </a:solidFill>
          <a:ln w="12700">
            <a:solidFill>
              <a:srgbClr val="D7D0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6688874" y="2171700"/>
            <a:ext cx="4605450" cy="2679700"/>
          </a:xfrm>
          <a:prstGeom prst="rect">
            <a:avLst/>
          </a:prstGeom>
        </p:spPr>
      </p:pic>
      <p:sp>
        <p:nvSpPr>
          <p:cNvPr id="16" name="Rectangle 15"/>
          <p:cNvSpPr/>
          <p:nvPr/>
        </p:nvSpPr>
        <p:spPr>
          <a:xfrm>
            <a:off x="6451600" y="5156200"/>
            <a:ext cx="5080000" cy="635000"/>
          </a:xfrm>
          <a:prstGeom prst="rect">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0200" y="5283200"/>
            <a:ext cx="4622800" cy="406400"/>
          </a:xfrm>
          <a:prstGeom prst="rect">
            <a:avLst/>
          </a:prstGeom>
          <a:noFill/>
        </p:spPr>
        <p:txBody>
          <a:bodyPr wrap="square" lIns="0" rIns="0" tIns="0" bIns="0" anchor="t">
            <a:spAutoFit/>
          </a:bodyPr>
          <a:lstStyle/>
          <a:p>
            <a:pPr algn="ctr">
              <a:spcAft>
                <a:spcPts val="200"/>
              </a:spcAft>
              <a:defRPr sz="1300" b="1">
                <a:solidFill>
                  <a:srgbClr val="FFFFFF"/>
                </a:solidFill>
                <a:latin typeface="Segoe UI"/>
              </a:defRPr>
            </a:pPr>
            <a:r>
              <a:t>Браузер не запускает неподдерживаемое напоминание</a:t>
            </a:r>
          </a:p>
        </p:txBody>
      </p:sp>
      <p:sp>
        <p:nvSpPr>
          <p:cNvPr id="18" name="TextBox 17"/>
          <p:cNvSpPr txBox="1"/>
          <p:nvPr/>
        </p:nvSpPr>
        <p:spPr>
          <a:xfrm>
            <a:off x="533400" y="5194300"/>
            <a:ext cx="5207000" cy="571500"/>
          </a:xfrm>
          <a:prstGeom prst="rect">
            <a:avLst/>
          </a:prstGeom>
          <a:noFill/>
        </p:spPr>
        <p:txBody>
          <a:bodyPr wrap="square" lIns="0" rIns="0" tIns="0" bIns="0" anchor="t">
            <a:spAutoFit/>
          </a:bodyPr>
          <a:lstStyle/>
          <a:p>
            <a:pPr algn="ctr">
              <a:spcAft>
                <a:spcPts val="200"/>
              </a:spcAft>
              <a:defRPr sz="1400" b="0">
                <a:solidFill>
                  <a:srgbClr val="60727B"/>
                </a:solidFill>
                <a:latin typeface="Segoe UI"/>
              </a:defRPr>
            </a:pPr>
            <a:r>
              <a:t>На телефоне создаётся напоминание на выбранное время.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51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3400" y="6350000"/>
            <a:ext cx="11125200" cy="0"/>
          </a:xfrm>
          <a:prstGeom prst="line">
            <a:avLst/>
          </a:prstGeom>
          <a:ln w="9525">
            <a:solidFill>
              <a:srgbClr val="D7D0C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17500"/>
            <a:ext cx="5842000" cy="228600"/>
          </a:xfrm>
          <a:prstGeom prst="rect">
            <a:avLst/>
          </a:prstGeom>
          <a:noFill/>
        </p:spPr>
        <p:txBody>
          <a:bodyPr wrap="square" lIns="0" rIns="0" tIns="0" bIns="0" anchor="t">
            <a:spAutoFit/>
          </a:bodyPr>
          <a:lstStyle/>
          <a:p>
            <a:pPr algn="l">
              <a:spcAft>
                <a:spcPts val="0"/>
              </a:spcAft>
              <a:defRPr sz="1000" b="1">
                <a:solidFill>
                  <a:srgbClr val="2F7375"/>
                </a:solidFill>
                <a:latin typeface="Segoe UI"/>
              </a:defRPr>
            </a:pPr>
            <a:r>
              <a:t>ПОСЛЕДНЯЯ ПРОВЕРКА</a:t>
            </a:r>
          </a:p>
        </p:txBody>
      </p:sp>
      <p:sp>
        <p:nvSpPr>
          <p:cNvPr id="6" name="TextBox 5"/>
          <p:cNvSpPr txBox="1"/>
          <p:nvPr/>
        </p:nvSpPr>
        <p:spPr>
          <a:xfrm>
            <a:off x="10998200" y="254000"/>
            <a:ext cx="660400" cy="393700"/>
          </a:xfrm>
          <a:prstGeom prst="rect">
            <a:avLst/>
          </a:prstGeom>
          <a:noFill/>
        </p:spPr>
        <p:txBody>
          <a:bodyPr wrap="square" lIns="0" rIns="0" tIns="0" bIns="0" anchor="t">
            <a:spAutoFit/>
          </a:bodyPr>
          <a:lstStyle/>
          <a:p>
            <a:pPr algn="r">
              <a:spcAft>
                <a:spcPts val="0"/>
              </a:spcAft>
              <a:defRPr sz="2000" b="1">
                <a:solidFill>
                  <a:srgbClr val="D3A13B"/>
                </a:solidFill>
                <a:latin typeface="Georgia"/>
              </a:defRPr>
            </a:pPr>
            <a:r>
              <a:t>18</a:t>
            </a:r>
          </a:p>
        </p:txBody>
      </p:sp>
      <p:sp>
        <p:nvSpPr>
          <p:cNvPr id="7" name="TextBox 6"/>
          <p:cNvSpPr txBox="1"/>
          <p:nvPr/>
        </p:nvSpPr>
        <p:spPr>
          <a:xfrm>
            <a:off x="533400" y="6477000"/>
            <a:ext cx="6604000" cy="165100"/>
          </a:xfrm>
          <a:prstGeom prst="rect">
            <a:avLst/>
          </a:prstGeom>
          <a:noFill/>
        </p:spPr>
        <p:txBody>
          <a:bodyPr wrap="square" lIns="0" rIns="0" tIns="0" bIns="0" anchor="t">
            <a:spAutoFit/>
          </a:bodyPr>
          <a:lstStyle/>
          <a:p>
            <a:pPr algn="l">
              <a:spcAft>
                <a:spcPts val="0"/>
              </a:spcAft>
              <a:defRPr sz="800" b="1">
                <a:solidFill>
                  <a:srgbClr val="60727B"/>
                </a:solidFill>
                <a:latin typeface="Segoe UI"/>
              </a:defRPr>
            </a:pPr>
            <a:r>
              <a:t>IRFAN ACADEMY  /  ПРОИЗВОДСТВЕННАЯ ПРАКТИКА</a:t>
            </a:r>
          </a:p>
        </p:txBody>
      </p:sp>
      <p:sp>
        <p:nvSpPr>
          <p:cNvPr id="8" name="TextBox 7"/>
          <p:cNvSpPr txBox="1"/>
          <p:nvPr/>
        </p:nvSpPr>
        <p:spPr>
          <a:xfrm>
            <a:off x="533400" y="723900"/>
            <a:ext cx="10033000" cy="774700"/>
          </a:xfrm>
          <a:prstGeom prst="rect">
            <a:avLst/>
          </a:prstGeom>
          <a:noFill/>
        </p:spPr>
        <p:txBody>
          <a:bodyPr wrap="square" lIns="0" rIns="0" tIns="0" bIns="0" anchor="t">
            <a:spAutoFit/>
          </a:bodyPr>
          <a:lstStyle/>
          <a:p>
            <a:pPr algn="l">
              <a:spcAft>
                <a:spcPts val="0"/>
              </a:spcAft>
              <a:defRPr sz="2700" b="1">
                <a:solidFill>
                  <a:srgbClr val="18313F"/>
                </a:solidFill>
                <a:latin typeface="Georgia"/>
              </a:defRPr>
            </a:pPr>
            <a:r>
              <a:t>Финальная проверка проекта</a:t>
            </a:r>
          </a:p>
        </p:txBody>
      </p:sp>
      <p:sp>
        <p:nvSpPr>
          <p:cNvPr id="9" name="Rectangle 8"/>
          <p:cNvSpPr/>
          <p:nvPr/>
        </p:nvSpPr>
        <p:spPr>
          <a:xfrm>
            <a:off x="533400" y="1714500"/>
            <a:ext cx="5461000" cy="1371600"/>
          </a:xfrm>
          <a:prstGeom prst="rect">
            <a:avLst/>
          </a:prstGeom>
          <a:solidFill>
            <a:srgbClr val="111719"/>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596900" y="1984172"/>
            <a:ext cx="5334000" cy="832255"/>
          </a:xfrm>
          <a:prstGeom prst="rect">
            <a:avLst/>
          </a:prstGeom>
        </p:spPr>
      </p:pic>
      <p:sp>
        <p:nvSpPr>
          <p:cNvPr id="11" name="Rectangle 10"/>
          <p:cNvSpPr/>
          <p:nvPr/>
        </p:nvSpPr>
        <p:spPr>
          <a:xfrm>
            <a:off x="533400" y="3543300"/>
            <a:ext cx="5461000" cy="1371600"/>
          </a:xfrm>
          <a:prstGeom prst="rect">
            <a:avLst/>
          </a:prstGeom>
          <a:solidFill>
            <a:srgbClr val="111719"/>
          </a:solidFill>
          <a:ln w="12700">
            <a:solidFill>
              <a:srgbClr val="183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596900" y="3885381"/>
            <a:ext cx="5334000" cy="687436"/>
          </a:xfrm>
          <a:prstGeom prst="rect">
            <a:avLst/>
          </a:prstGeom>
        </p:spPr>
      </p:pic>
      <p:sp>
        <p:nvSpPr>
          <p:cNvPr id="13" name="TextBox 12"/>
          <p:cNvSpPr txBox="1"/>
          <p:nvPr/>
        </p:nvSpPr>
        <p:spPr>
          <a:xfrm>
            <a:off x="6680200" y="1778000"/>
            <a:ext cx="2006600" cy="685800"/>
          </a:xfrm>
          <a:prstGeom prst="rect">
            <a:avLst/>
          </a:prstGeom>
          <a:noFill/>
        </p:spPr>
        <p:txBody>
          <a:bodyPr wrap="square" lIns="0" rIns="0" tIns="0" bIns="0" anchor="t">
            <a:spAutoFit/>
          </a:bodyPr>
          <a:lstStyle/>
          <a:p>
            <a:pPr algn="ctr">
              <a:spcAft>
                <a:spcPts val="200"/>
              </a:spcAft>
              <a:defRPr sz="3100" b="1">
                <a:solidFill>
                  <a:srgbClr val="2F7375"/>
                </a:solidFill>
                <a:latin typeface="Georgia"/>
              </a:defRPr>
            </a:pPr>
            <a:r>
              <a:t>0</a:t>
            </a:r>
          </a:p>
        </p:txBody>
      </p:sp>
      <p:sp>
        <p:nvSpPr>
          <p:cNvPr id="14" name="TextBox 13"/>
          <p:cNvSpPr txBox="1"/>
          <p:nvPr/>
        </p:nvSpPr>
        <p:spPr>
          <a:xfrm>
            <a:off x="6680200" y="2540000"/>
            <a:ext cx="2006600" cy="4572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ошибок в коде</a:t>
            </a:r>
          </a:p>
        </p:txBody>
      </p:sp>
      <p:sp>
        <p:nvSpPr>
          <p:cNvPr id="15" name="TextBox 14"/>
          <p:cNvSpPr txBox="1"/>
          <p:nvPr/>
        </p:nvSpPr>
        <p:spPr>
          <a:xfrm>
            <a:off x="9042400" y="1778000"/>
            <a:ext cx="2006600" cy="685800"/>
          </a:xfrm>
          <a:prstGeom prst="rect">
            <a:avLst/>
          </a:prstGeom>
          <a:noFill/>
        </p:spPr>
        <p:txBody>
          <a:bodyPr wrap="square" lIns="0" rIns="0" tIns="0" bIns="0" anchor="t">
            <a:spAutoFit/>
          </a:bodyPr>
          <a:lstStyle/>
          <a:p>
            <a:pPr algn="ctr">
              <a:spcAft>
                <a:spcPts val="200"/>
              </a:spcAft>
              <a:defRPr sz="3100" b="1">
                <a:solidFill>
                  <a:srgbClr val="D3A13B"/>
                </a:solidFill>
                <a:latin typeface="Georgia"/>
              </a:defRPr>
            </a:pPr>
            <a:r>
              <a:t>2 / 2</a:t>
            </a:r>
          </a:p>
        </p:txBody>
      </p:sp>
      <p:sp>
        <p:nvSpPr>
          <p:cNvPr id="16" name="TextBox 15"/>
          <p:cNvSpPr txBox="1"/>
          <p:nvPr/>
        </p:nvSpPr>
        <p:spPr>
          <a:xfrm>
            <a:off x="9042400" y="2540000"/>
            <a:ext cx="2006600" cy="4572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автоматические проверки</a:t>
            </a:r>
          </a:p>
        </p:txBody>
      </p:sp>
      <p:sp>
        <p:nvSpPr>
          <p:cNvPr id="17" name="TextBox 16"/>
          <p:cNvSpPr txBox="1"/>
          <p:nvPr/>
        </p:nvSpPr>
        <p:spPr>
          <a:xfrm>
            <a:off x="6680200" y="3683000"/>
            <a:ext cx="2006600" cy="685800"/>
          </a:xfrm>
          <a:prstGeom prst="rect">
            <a:avLst/>
          </a:prstGeom>
          <a:noFill/>
        </p:spPr>
        <p:txBody>
          <a:bodyPr wrap="square" lIns="0" rIns="0" tIns="0" bIns="0" anchor="t">
            <a:spAutoFit/>
          </a:bodyPr>
          <a:lstStyle/>
          <a:p>
            <a:pPr algn="ctr">
              <a:spcAft>
                <a:spcPts val="200"/>
              </a:spcAft>
              <a:defRPr sz="3100" b="1">
                <a:solidFill>
                  <a:srgbClr val="B95F4B"/>
                </a:solidFill>
                <a:latin typeface="Georgia"/>
              </a:defRPr>
            </a:pPr>
            <a:r>
              <a:t>ГОТОВО</a:t>
            </a:r>
          </a:p>
        </p:txBody>
      </p:sp>
      <p:sp>
        <p:nvSpPr>
          <p:cNvPr id="18" name="TextBox 17"/>
          <p:cNvSpPr txBox="1"/>
          <p:nvPr/>
        </p:nvSpPr>
        <p:spPr>
          <a:xfrm>
            <a:off x="6680200" y="4445000"/>
            <a:ext cx="2006600" cy="457200"/>
          </a:xfrm>
          <a:prstGeom prst="rect">
            <a:avLst/>
          </a:prstGeom>
          <a:noFill/>
        </p:spPr>
        <p:txBody>
          <a:bodyPr wrap="square" lIns="0" rIns="0" tIns="0" bIns="0" anchor="t">
            <a:spAutoFit/>
          </a:bodyPr>
          <a:lstStyle/>
          <a:p>
            <a:pPr algn="ctr">
              <a:spcAft>
                <a:spcPts val="200"/>
              </a:spcAft>
              <a:defRPr sz="1300" b="0">
                <a:solidFill>
                  <a:srgbClr val="60727B"/>
                </a:solidFill>
                <a:latin typeface="Segoe UI"/>
              </a:defRPr>
            </a:pPr>
            <a:r>
              <a:t>проверка серверного файла</a:t>
            </a:r>
          </a:p>
        </p:txBody>
      </p:sp>
      <p:sp>
        <p:nvSpPr>
          <p:cNvPr id="19" name="Rectangle 18"/>
          <p:cNvSpPr/>
          <p:nvPr/>
        </p:nvSpPr>
        <p:spPr>
          <a:xfrm>
            <a:off x="9042400" y="3683000"/>
            <a:ext cx="2235200" cy="1168400"/>
          </a:xfrm>
          <a:prstGeom prst="rect">
            <a:avLst/>
          </a:prstGeom>
          <a:solidFill>
            <a:srgbClr val="DCE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700" y="3898900"/>
            <a:ext cx="2006600" cy="393700"/>
          </a:xfrm>
          <a:prstGeom prst="rect">
            <a:avLst/>
          </a:prstGeom>
          <a:noFill/>
        </p:spPr>
        <p:txBody>
          <a:bodyPr wrap="square" lIns="0" rIns="0" tIns="0" bIns="0" anchor="t">
            <a:spAutoFit/>
          </a:bodyPr>
          <a:lstStyle/>
          <a:p>
            <a:pPr algn="ctr">
              <a:spcAft>
                <a:spcPts val="200"/>
              </a:spcAft>
              <a:defRPr sz="1800" b="1">
                <a:solidFill>
                  <a:srgbClr val="2E7D5B"/>
                </a:solidFill>
                <a:latin typeface="Georgia"/>
              </a:defRPr>
            </a:pPr>
            <a:r>
              <a:t>ПРОЙДЕНО</a:t>
            </a:r>
          </a:p>
        </p:txBody>
      </p:sp>
      <p:sp>
        <p:nvSpPr>
          <p:cNvPr id="21" name="TextBox 20"/>
          <p:cNvSpPr txBox="1"/>
          <p:nvPr/>
        </p:nvSpPr>
        <p:spPr>
          <a:xfrm>
            <a:off x="9156700" y="4406900"/>
            <a:ext cx="2006600" cy="254000"/>
          </a:xfrm>
          <a:prstGeom prst="rect">
            <a:avLst/>
          </a:prstGeom>
          <a:noFill/>
        </p:spPr>
        <p:txBody>
          <a:bodyPr wrap="square" lIns="0" rIns="0" tIns="0" bIns="0" anchor="t">
            <a:spAutoFit/>
          </a:bodyPr>
          <a:lstStyle/>
          <a:p>
            <a:pPr algn="ctr">
              <a:spcAft>
                <a:spcPts val="200"/>
              </a:spcAft>
              <a:defRPr sz="1200" b="0">
                <a:solidFill>
                  <a:srgbClr val="60727B"/>
                </a:solidFill>
                <a:latin typeface="Segoe UI"/>
              </a:defRPr>
            </a:pPr>
            <a:r>
              <a:t>повторная проверка</a:t>
            </a:r>
          </a:p>
        </p:txBody>
      </p:sp>
      <p:sp>
        <p:nvSpPr>
          <p:cNvPr id="22" name="TextBox 21"/>
          <p:cNvSpPr txBox="1"/>
          <p:nvPr/>
        </p:nvSpPr>
        <p:spPr>
          <a:xfrm>
            <a:off x="6680200" y="5384800"/>
            <a:ext cx="4597400" cy="596900"/>
          </a:xfrm>
          <a:prstGeom prst="rect">
            <a:avLst/>
          </a:prstGeom>
          <a:noFill/>
        </p:spPr>
        <p:txBody>
          <a:bodyPr wrap="square" lIns="0" rIns="0" tIns="0" bIns="0" anchor="t">
            <a:spAutoFit/>
          </a:bodyPr>
          <a:lstStyle/>
          <a:p>
            <a:pPr algn="ctr">
              <a:spcAft>
                <a:spcPts val="200"/>
              </a:spcAft>
              <a:defRPr sz="1400" b="1">
                <a:solidFill>
                  <a:srgbClr val="18313F"/>
                </a:solidFill>
                <a:latin typeface="Segoe UI"/>
              </a:defRPr>
            </a:pPr>
            <a:r>
              <a:t>Команды проверили код, а основные функции я повторно проверил вручную.</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8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9400" cy="6858000"/>
          </a:xfrm>
          <a:prstGeom prst="rect">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rfan_logo.png"/>
          <p:cNvPicPr>
            <a:picLocks noChangeAspect="1"/>
          </p:cNvPicPr>
          <p:nvPr/>
        </p:nvPicPr>
        <p:blipFill>
          <a:blip r:embed="rId2"/>
          <a:stretch>
            <a:fillRect/>
          </a:stretch>
        </p:blipFill>
        <p:spPr>
          <a:xfrm>
            <a:off x="9550400" y="711200"/>
            <a:ext cx="1803400" cy="1803400"/>
          </a:xfrm>
          <a:prstGeom prst="rect">
            <a:avLst/>
          </a:prstGeom>
        </p:spPr>
      </p:pic>
      <p:sp>
        <p:nvSpPr>
          <p:cNvPr id="5" name="TextBox 4"/>
          <p:cNvSpPr txBox="1"/>
          <p:nvPr/>
        </p:nvSpPr>
        <p:spPr>
          <a:xfrm>
            <a:off x="787400" y="698500"/>
            <a:ext cx="4445000" cy="266700"/>
          </a:xfrm>
          <a:prstGeom prst="rect">
            <a:avLst/>
          </a:prstGeom>
          <a:noFill/>
        </p:spPr>
        <p:txBody>
          <a:bodyPr wrap="square" lIns="0" rIns="0" tIns="0" bIns="0" anchor="t">
            <a:spAutoFit/>
          </a:bodyPr>
          <a:lstStyle/>
          <a:p>
            <a:pPr algn="l">
              <a:spcAft>
                <a:spcPts val="200"/>
              </a:spcAft>
              <a:defRPr sz="1200" b="1">
                <a:solidFill>
                  <a:srgbClr val="D3A13B"/>
                </a:solidFill>
                <a:latin typeface="Segoe UI"/>
              </a:defRPr>
            </a:pPr>
            <a:r>
              <a:t>ИТОГ РАБОТЫ</a:t>
            </a:r>
          </a:p>
        </p:txBody>
      </p:sp>
      <p:sp>
        <p:nvSpPr>
          <p:cNvPr id="6" name="TextBox 5"/>
          <p:cNvSpPr txBox="1"/>
          <p:nvPr/>
        </p:nvSpPr>
        <p:spPr>
          <a:xfrm>
            <a:off x="762000" y="1308100"/>
            <a:ext cx="7937500" cy="1219200"/>
          </a:xfrm>
          <a:prstGeom prst="rect">
            <a:avLst/>
          </a:prstGeom>
          <a:noFill/>
        </p:spPr>
        <p:txBody>
          <a:bodyPr wrap="square" lIns="0" rIns="0" tIns="0" bIns="0" anchor="t">
            <a:spAutoFit/>
          </a:bodyPr>
          <a:lstStyle/>
          <a:p>
            <a:pPr algn="l">
              <a:spcAft>
                <a:spcPts val="200"/>
              </a:spcAft>
              <a:defRPr sz="3000" b="1">
                <a:solidFill>
                  <a:srgbClr val="FFFFFF"/>
                </a:solidFill>
                <a:latin typeface="Georgia"/>
              </a:defRPr>
            </a:pPr>
            <a:r>
              <a:t>Проверка завершена:</a:t>
            </a:r>
          </a:p>
          <a:p>
            <a:pPr algn="l">
              <a:spcAft>
                <a:spcPts val="200"/>
              </a:spcAft>
              <a:defRPr sz="3000" b="1">
                <a:solidFill>
                  <a:srgbClr val="FFFFFF"/>
                </a:solidFill>
                <a:latin typeface="Georgia"/>
              </a:defRPr>
            </a:pPr>
            <a:r>
              <a:t>основные функции работают</a:t>
            </a:r>
          </a:p>
        </p:txBody>
      </p:sp>
      <p:sp>
        <p:nvSpPr>
          <p:cNvPr id="7" name="Oval 6"/>
          <p:cNvSpPr/>
          <p:nvPr/>
        </p:nvSpPr>
        <p:spPr>
          <a:xfrm>
            <a:off x="787400" y="3136900"/>
            <a:ext cx="381000" cy="3810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3238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1</a:t>
            </a:r>
          </a:p>
        </p:txBody>
      </p:sp>
      <p:sp>
        <p:nvSpPr>
          <p:cNvPr id="9" name="TextBox 8"/>
          <p:cNvSpPr txBox="1"/>
          <p:nvPr/>
        </p:nvSpPr>
        <p:spPr>
          <a:xfrm>
            <a:off x="1346200" y="3162300"/>
            <a:ext cx="4318000" cy="533400"/>
          </a:xfrm>
          <a:prstGeom prst="rect">
            <a:avLst/>
          </a:prstGeom>
          <a:noFill/>
        </p:spPr>
        <p:txBody>
          <a:bodyPr wrap="square" lIns="0" rIns="0" tIns="0" bIns="0" anchor="t">
            <a:spAutoFit/>
          </a:bodyPr>
          <a:lstStyle/>
          <a:p>
            <a:pPr algn="l">
              <a:spcAft>
                <a:spcPts val="200"/>
              </a:spcAft>
              <a:defRPr sz="1400" b="1">
                <a:solidFill>
                  <a:srgbClr val="F1E9D8"/>
                </a:solidFill>
                <a:latin typeface="Segoe UI"/>
              </a:defRPr>
            </a:pPr>
            <a:r>
              <a:t>видео выбирается, загружается и открывается</a:t>
            </a:r>
          </a:p>
        </p:txBody>
      </p:sp>
      <p:sp>
        <p:nvSpPr>
          <p:cNvPr id="10" name="Oval 9"/>
          <p:cNvSpPr/>
          <p:nvPr/>
        </p:nvSpPr>
        <p:spPr>
          <a:xfrm>
            <a:off x="6096000" y="3136900"/>
            <a:ext cx="381000" cy="3810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0" y="3238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2</a:t>
            </a:r>
          </a:p>
        </p:txBody>
      </p:sp>
      <p:sp>
        <p:nvSpPr>
          <p:cNvPr id="12" name="TextBox 11"/>
          <p:cNvSpPr txBox="1"/>
          <p:nvPr/>
        </p:nvSpPr>
        <p:spPr>
          <a:xfrm>
            <a:off x="6654800" y="3162300"/>
            <a:ext cx="4318000" cy="533400"/>
          </a:xfrm>
          <a:prstGeom prst="rect">
            <a:avLst/>
          </a:prstGeom>
          <a:noFill/>
        </p:spPr>
        <p:txBody>
          <a:bodyPr wrap="square" lIns="0" rIns="0" tIns="0" bIns="0" anchor="t">
            <a:spAutoFit/>
          </a:bodyPr>
          <a:lstStyle/>
          <a:p>
            <a:pPr algn="l">
              <a:spcAft>
                <a:spcPts val="200"/>
              </a:spcAft>
              <a:defRPr sz="1400" b="0">
                <a:solidFill>
                  <a:srgbClr val="F1E9D8"/>
                </a:solidFill>
                <a:latin typeface="Segoe UI"/>
              </a:defRPr>
            </a:pPr>
            <a:r>
              <a:t>данные о видео сохраняются отдельно от файла</a:t>
            </a:r>
          </a:p>
        </p:txBody>
      </p:sp>
      <p:sp>
        <p:nvSpPr>
          <p:cNvPr id="13" name="Oval 12"/>
          <p:cNvSpPr/>
          <p:nvPr/>
        </p:nvSpPr>
        <p:spPr>
          <a:xfrm>
            <a:off x="787400" y="4025900"/>
            <a:ext cx="381000" cy="3810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4127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3</a:t>
            </a:r>
          </a:p>
        </p:txBody>
      </p:sp>
      <p:sp>
        <p:nvSpPr>
          <p:cNvPr id="15" name="TextBox 14"/>
          <p:cNvSpPr txBox="1"/>
          <p:nvPr/>
        </p:nvSpPr>
        <p:spPr>
          <a:xfrm>
            <a:off x="1346200" y="4051300"/>
            <a:ext cx="4318000" cy="533400"/>
          </a:xfrm>
          <a:prstGeom prst="rect">
            <a:avLst/>
          </a:prstGeom>
          <a:noFill/>
        </p:spPr>
        <p:txBody>
          <a:bodyPr wrap="square" lIns="0" rIns="0" tIns="0" bIns="0" anchor="t">
            <a:spAutoFit/>
          </a:bodyPr>
          <a:lstStyle/>
          <a:p>
            <a:pPr algn="l">
              <a:spcAft>
                <a:spcPts val="200"/>
              </a:spcAft>
              <a:defRPr sz="1400" b="0">
                <a:solidFill>
                  <a:srgbClr val="F1E9D8"/>
                </a:solidFill>
                <a:latin typeface="Segoe UI"/>
              </a:defRPr>
            </a:pPr>
            <a:r>
              <a:t>местоположение и время намазов определяются</a:t>
            </a:r>
          </a:p>
        </p:txBody>
      </p:sp>
      <p:sp>
        <p:nvSpPr>
          <p:cNvPr id="16" name="Oval 15"/>
          <p:cNvSpPr/>
          <p:nvPr/>
        </p:nvSpPr>
        <p:spPr>
          <a:xfrm>
            <a:off x="6096000" y="4025900"/>
            <a:ext cx="381000" cy="3810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6000" y="4127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4</a:t>
            </a:r>
          </a:p>
        </p:txBody>
      </p:sp>
      <p:sp>
        <p:nvSpPr>
          <p:cNvPr id="18" name="TextBox 17"/>
          <p:cNvSpPr txBox="1"/>
          <p:nvPr/>
        </p:nvSpPr>
        <p:spPr>
          <a:xfrm>
            <a:off x="6654800" y="4051300"/>
            <a:ext cx="4318000" cy="533400"/>
          </a:xfrm>
          <a:prstGeom prst="rect">
            <a:avLst/>
          </a:prstGeom>
          <a:noFill/>
        </p:spPr>
        <p:txBody>
          <a:bodyPr wrap="square" lIns="0" rIns="0" tIns="0" bIns="0" anchor="t">
            <a:spAutoFit/>
          </a:bodyPr>
          <a:lstStyle/>
          <a:p>
            <a:pPr algn="l">
              <a:spcAft>
                <a:spcPts val="200"/>
              </a:spcAft>
              <a:defRPr sz="1400" b="0">
                <a:solidFill>
                  <a:srgbClr val="F1E9D8"/>
                </a:solidFill>
                <a:latin typeface="Segoe UI"/>
              </a:defRPr>
            </a:pPr>
            <a:r>
              <a:t>Кыбла работает даже без данных компаса</a:t>
            </a:r>
          </a:p>
        </p:txBody>
      </p:sp>
      <p:sp>
        <p:nvSpPr>
          <p:cNvPr id="19" name="Oval 18"/>
          <p:cNvSpPr/>
          <p:nvPr/>
        </p:nvSpPr>
        <p:spPr>
          <a:xfrm>
            <a:off x="787400" y="4914900"/>
            <a:ext cx="381000" cy="381000"/>
          </a:xfrm>
          <a:prstGeom prst="ellipse">
            <a:avLst/>
          </a:prstGeom>
          <a:solidFill>
            <a:srgbClr val="2F7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016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5</a:t>
            </a:r>
          </a:p>
        </p:txBody>
      </p:sp>
      <p:sp>
        <p:nvSpPr>
          <p:cNvPr id="21" name="TextBox 20"/>
          <p:cNvSpPr txBox="1"/>
          <p:nvPr/>
        </p:nvSpPr>
        <p:spPr>
          <a:xfrm>
            <a:off x="1346200" y="4940300"/>
            <a:ext cx="4318000" cy="533400"/>
          </a:xfrm>
          <a:prstGeom prst="rect">
            <a:avLst/>
          </a:prstGeom>
          <a:noFill/>
        </p:spPr>
        <p:txBody>
          <a:bodyPr wrap="square" lIns="0" rIns="0" tIns="0" bIns="0" anchor="t">
            <a:spAutoFit/>
          </a:bodyPr>
          <a:lstStyle/>
          <a:p>
            <a:pPr algn="l">
              <a:spcAft>
                <a:spcPts val="200"/>
              </a:spcAft>
              <a:defRPr sz="1400" b="0">
                <a:solidFill>
                  <a:srgbClr val="F1E9D8"/>
                </a:solidFill>
                <a:latin typeface="Segoe UI"/>
              </a:defRPr>
            </a:pPr>
            <a:r>
              <a:t>напоминания учитывают телефон и браузер</a:t>
            </a:r>
          </a:p>
        </p:txBody>
      </p:sp>
      <p:sp>
        <p:nvSpPr>
          <p:cNvPr id="22" name="Oval 21"/>
          <p:cNvSpPr/>
          <p:nvPr/>
        </p:nvSpPr>
        <p:spPr>
          <a:xfrm>
            <a:off x="6096000" y="4914900"/>
            <a:ext cx="381000" cy="381000"/>
          </a:xfrm>
          <a:prstGeom prst="ellipse">
            <a:avLst/>
          </a:prstGeom>
          <a:solidFill>
            <a:srgbClr val="D3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0" y="5016500"/>
            <a:ext cx="381000" cy="266700"/>
          </a:xfrm>
          <a:prstGeom prst="rect">
            <a:avLst/>
          </a:prstGeom>
          <a:noFill/>
        </p:spPr>
        <p:txBody>
          <a:bodyPr wrap="square" lIns="0" rIns="0" tIns="0" bIns="0" anchor="t">
            <a:spAutoFit/>
          </a:bodyPr>
          <a:lstStyle/>
          <a:p>
            <a:pPr algn="ctr">
              <a:spcAft>
                <a:spcPts val="0"/>
              </a:spcAft>
              <a:defRPr sz="1400" b="1">
                <a:solidFill>
                  <a:srgbClr val="FFFFFF"/>
                </a:solidFill>
                <a:latin typeface="Georgia"/>
              </a:defRPr>
            </a:pPr>
            <a:r>
              <a:t>6</a:t>
            </a:r>
          </a:p>
        </p:txBody>
      </p:sp>
      <p:sp>
        <p:nvSpPr>
          <p:cNvPr id="24" name="TextBox 23"/>
          <p:cNvSpPr txBox="1"/>
          <p:nvPr/>
        </p:nvSpPr>
        <p:spPr>
          <a:xfrm>
            <a:off x="6654800" y="4940300"/>
            <a:ext cx="4318000" cy="533400"/>
          </a:xfrm>
          <a:prstGeom prst="rect">
            <a:avLst/>
          </a:prstGeom>
          <a:noFill/>
        </p:spPr>
        <p:txBody>
          <a:bodyPr wrap="square" lIns="0" rIns="0" tIns="0" bIns="0" anchor="t">
            <a:spAutoFit/>
          </a:bodyPr>
          <a:lstStyle/>
          <a:p>
            <a:pPr algn="l">
              <a:spcAft>
                <a:spcPts val="200"/>
              </a:spcAft>
              <a:defRPr sz="1400" b="1">
                <a:solidFill>
                  <a:srgbClr val="F1E9D8"/>
                </a:solidFill>
                <a:latin typeface="Segoe UI"/>
              </a:defRPr>
            </a:pPr>
            <a:r>
              <a:t>код и основные функции проверены повторно</a:t>
            </a:r>
          </a:p>
        </p:txBody>
      </p:sp>
      <p:cxnSp>
        <p:nvCxnSpPr>
          <p:cNvPr id="25" name="Connector 24"/>
          <p:cNvCxnSpPr/>
          <p:nvPr/>
        </p:nvCxnSpPr>
        <p:spPr>
          <a:xfrm>
            <a:off x="787400" y="5943600"/>
            <a:ext cx="10617200" cy="0"/>
          </a:xfrm>
          <a:prstGeom prst="line">
            <a:avLst/>
          </a:prstGeom>
          <a:ln w="12700">
            <a:solidFill>
              <a:srgbClr val="274A5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7400" y="6184900"/>
            <a:ext cx="4445000" cy="355600"/>
          </a:xfrm>
          <a:prstGeom prst="rect">
            <a:avLst/>
          </a:prstGeom>
          <a:noFill/>
        </p:spPr>
        <p:txBody>
          <a:bodyPr wrap="square" lIns="0" rIns="0" tIns="0" bIns="0" anchor="t">
            <a:spAutoFit/>
          </a:bodyPr>
          <a:lstStyle/>
          <a:p>
            <a:pPr algn="l">
              <a:spcAft>
                <a:spcPts val="200"/>
              </a:spcAft>
              <a:defRPr sz="1700" b="1">
                <a:solidFill>
                  <a:srgbClr val="D3A13B"/>
                </a:solidFill>
                <a:latin typeface="Georgia"/>
              </a:defRPr>
            </a:pPr>
            <a:r>
              <a:t>Спасибо за внимание</a:t>
            </a:r>
          </a:p>
        </p:txBody>
      </p:sp>
      <p:sp>
        <p:nvSpPr>
          <p:cNvPr id="27" name="TextBox 26"/>
          <p:cNvSpPr txBox="1"/>
          <p:nvPr/>
        </p:nvSpPr>
        <p:spPr>
          <a:xfrm>
            <a:off x="6959600" y="6210300"/>
            <a:ext cx="4445000" cy="292100"/>
          </a:xfrm>
          <a:prstGeom prst="rect">
            <a:avLst/>
          </a:prstGeom>
          <a:noFill/>
        </p:spPr>
        <p:txBody>
          <a:bodyPr wrap="square" lIns="0" rIns="0" tIns="0" bIns="0" anchor="t">
            <a:spAutoFit/>
          </a:bodyPr>
          <a:lstStyle/>
          <a:p>
            <a:pPr algn="r">
              <a:spcAft>
                <a:spcPts val="200"/>
              </a:spcAft>
              <a:defRPr sz="1300" b="0">
                <a:solidFill>
                  <a:srgbClr val="F1E9D8"/>
                </a:solidFill>
                <a:latin typeface="Segoe UI"/>
              </a:defRPr>
            </a:pPr>
            <a:r>
              <a:t>Готов ответить на вопросы комиссии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